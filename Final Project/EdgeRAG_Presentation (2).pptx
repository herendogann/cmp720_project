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EdgeRAG — an offline RAG pipeline for constrained embedded hardware.
The core idea: modern AI needs the cloud, but many critical environments cannot connect to it.
EdgeRAG answers questions from local documents. No internet required. No data leaves the device.
The stack: Phi-3 Mini at 4-bit quantization, FAISS retrieval, LangChain orchestration — all inside a QEMU-emulated ARM Cortex-A53 with a hard 2 GB RAM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scenarios where cloud connectivity is impossible or unacceptable.
First: air-gapped networks. Defense systems, industrial control, remote infrastructure — simply no internet.
Second: privacy-critical systems. Medical devices, legal analysis — data must never leave the device.
Third: energy-constrained edge. Constant cloud round-trips drain batteries on remote sensors and robots.
EdgeRAG solves all three. One offline pipeline. No cloud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proposal, I planned to run everything inside QEMU ARM Cortex-A53 — 2 GB RAM, 2 cores, no network.
The pipeline has four modules: Ingestion, Embedding, Retrieval, and Generation.
The key design decision was KPN — Kahn Process Network. Each module runs sequentially, communicates through disk files, and is fully unloaded before the next one loads.
This guarantees that only one large object is ever in RAM at once. That is how we fit a 1.4 GB model inside a 2 GB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things went as planned — the full pipeline is implemented and functional.
But one major change: QEMU ARM64 emulation on x86 imposes 50 to 100 times overhead for LLM inference. A single query would take hours.
So I validated functional correctness inside QEMU — boot, Python environment, package loading — and ran performance benchmarks on the host WSL2 with the same resource constraints enforced via cgroups.
This is standard practice in embedded AI research when real hardware is unavailable.
Other changes: only one ARM manual instead of ten, CPU-only PyTorch to avoid CUDA library overhead, and F1 metrics deferred because I had no ground-truth annotations.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success criteria passed.
Query completion: 100 percent. Every query returned a grounded answer.
Peak RAM: 729 megabytes. The budget was 1800. We used less than half.
Token speed: 2.92 tokens per second. The target was 0.5. We are nearly six times above the threshold.
Average latency: 58.6 seconds. Just under the 60-second budget.
One outlier: the DVFS query at 77 seconds exceeded the limit. The fix is simple — reduce max tokens from 150 to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KPN architecture worked exactly as intended. Sequential isolation kept RAM at 729 MB even though the SLM alone needs 1.4 gigabytes at runtime.
The most important trade-off is context length versus latency. If you increase n_ctx or retrieve more chunks, answer quality improves — but latency and memory both go up. The configuration I chose, n_ctx equals 512 and k equals 3, is the balanced operating point within the 2 GB envelope.
On embedded system design: real-time is soft here, not hard. Four out of five queries meet the 60-second target. Energy: CPU-only inference, no GPU, no cloud — significantly lower power than server-based alternatives. Security: zero network egress enforced at the QEMU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EdgeRAG is a fully offline RAG pipeline that meets all five system-level targets on constrained ARM hardware.
What was completed: the full four-stage pipeline, QEMU environment setup, and performance evaluation under enforced resource constraints.
What remains: formal QA quality metrics require annotated pairs that I did not have time to build. Native ARM hardware profiling would give more accurate latency numbers.
The five next steps are on the right — the most impactful being real hardware benchmarking and corpus expansion.
EdgeRAG provides a foundation for offline AI in any air-gapped, privacy-critical, or energy-constrained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 Why is QEMU so slow? ARM64 emulation translates every instruction at runtime. No JIT, no hardware assist on WSL2. That is 50 to 100 times overhead.
— Why KPN? It gives deterministic memory bounds. You always know exactly one module is active and how much RAM it uses. No surprises.
— Why is RAM so much lower than estimated? Two reasons: CPU-only PyTorch has no CUDA library overhead, and the embedding model is fully unloaded before the SLM loads. They never coexist.
— Why Phi-3 Mini? Best instruction-following quality at Q4 quantization for under 2.5 GB on disk. Tested against TinyLlama — Phi-3 was significantly more coherent on technical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132320" y="-1097280"/>
            <a:ext cx="3657600" cy="3657600"/>
          </a:xfrm>
          <a:prstGeom prst="ellipse">
            <a:avLst/>
          </a:prstGeom>
          <a:solidFill>
            <a:srgbClr val="1F3A5F">
              <a:alpha val="60000"/>
            </a:srgbClr>
          </a:solidFill>
          <a:ln/>
        </p:spPr>
      </p:sp>
      <p:sp>
        <p:nvSpPr>
          <p:cNvPr id="3" name="Shape 1"/>
          <p:cNvSpPr/>
          <p:nvPr/>
        </p:nvSpPr>
        <p:spPr>
          <a:xfrm>
            <a:off x="7680960" y="-457200"/>
            <a:ext cx="2377440" cy="2377440"/>
          </a:xfrm>
          <a:prstGeom prst="ellipse">
            <a:avLst/>
          </a:prstGeom>
          <a:solidFill>
            <a:srgbClr val="2E75B6">
              <a:alpha val="50000"/>
            </a:srgbClr>
          </a:solidFill>
          <a:ln/>
        </p:spPr>
      </p:sp>
      <p:sp>
        <p:nvSpPr>
          <p:cNvPr id="4" name="Text 2"/>
          <p:cNvSpPr/>
          <p:nvPr/>
        </p:nvSpPr>
        <p:spPr>
          <a:xfrm>
            <a:off x="548640" y="731520"/>
            <a:ext cx="8046720" cy="128016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EdgeRAG</a:t>
            </a:r>
            <a:endParaRPr lang="en-US" sz="6000" dirty="0"/>
          </a:p>
        </p:txBody>
      </p:sp>
      <p:sp>
        <p:nvSpPr>
          <p:cNvPr id="5" name="Text 3"/>
          <p:cNvSpPr/>
          <p:nvPr/>
        </p:nvSpPr>
        <p:spPr>
          <a:xfrm>
            <a:off x="548640" y="1920240"/>
            <a:ext cx="7315200" cy="914400"/>
          </a:xfrm>
          <a:prstGeom prst="rect">
            <a:avLst/>
          </a:prstGeom>
          <a:noFill/>
          <a:ln/>
        </p:spPr>
        <p:txBody>
          <a:bodyPr wrap="square" lIns="0" tIns="0" rIns="0" bIns="0" rtlCol="0" anchor="ctr"/>
          <a:lstStyle/>
          <a:p>
            <a:pPr indent="0" marL="0">
              <a:buNone/>
            </a:pPr>
            <a:r>
              <a:rPr lang="en-US" sz="1800" dirty="0">
                <a:solidFill>
                  <a:srgbClr val="00B4D8"/>
                </a:solidFill>
                <a:latin typeface="Arial" pitchFamily="34" charset="0"/>
                <a:ea typeface="Arial" pitchFamily="34" charset="-122"/>
                <a:cs typeface="Arial" pitchFamily="34" charset="-120"/>
              </a:rPr>
              <a:t>Offline Retrieval-Augmented Generation on</a:t>
            </a:r>
            <a:endParaRPr lang="en-US" sz="1800" dirty="0"/>
          </a:p>
          <a:p>
            <a:pPr indent="0" marL="0">
              <a:buNone/>
            </a:pPr>
            <a:r>
              <a:rPr lang="en-US" sz="1800" dirty="0">
                <a:solidFill>
                  <a:srgbClr val="00B4D8"/>
                </a:solidFill>
                <a:latin typeface="Arial" pitchFamily="34" charset="0"/>
                <a:ea typeface="Arial" pitchFamily="34" charset="-122"/>
                <a:cs typeface="Arial" pitchFamily="34" charset="-120"/>
              </a:rPr>
              <a:t>Resource-Constrained Simulated ARM Architectures</a:t>
            </a:r>
            <a:endParaRPr lang="en-US" sz="1800" dirty="0"/>
          </a:p>
        </p:txBody>
      </p:sp>
      <p:sp>
        <p:nvSpPr>
          <p:cNvPr id="6" name="Shape 4"/>
          <p:cNvSpPr/>
          <p:nvPr/>
        </p:nvSpPr>
        <p:spPr>
          <a:xfrm>
            <a:off x="548640" y="2971800"/>
            <a:ext cx="2286000" cy="36576"/>
          </a:xfrm>
          <a:prstGeom prst="rect">
            <a:avLst/>
          </a:prstGeom>
          <a:solidFill>
            <a:srgbClr val="00B4D8"/>
          </a:solidFill>
          <a:ln/>
        </p:spPr>
      </p:sp>
      <p:sp>
        <p:nvSpPr>
          <p:cNvPr id="7" name="Text 5"/>
          <p:cNvSpPr/>
          <p:nvPr/>
        </p:nvSpPr>
        <p:spPr>
          <a:xfrm>
            <a:off x="548640" y="3154680"/>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Hüseyin Eren Doğan</a:t>
            </a:r>
            <a:pPr indent="0" marL="0">
              <a:buNone/>
            </a:pPr>
            <a:r>
              <a:rPr lang="en-US" sz="1400" dirty="0">
                <a:solidFill>
                  <a:srgbClr val="8899AA"/>
                </a:solidFill>
                <a:latin typeface="Arial" pitchFamily="34" charset="0"/>
                <a:ea typeface="Arial" pitchFamily="34" charset="-122"/>
                <a:cs typeface="Arial" pitchFamily="34" charset="-120"/>
              </a:rPr>
              <a:t>  ·  N25123065</a:t>
            </a:r>
            <a:endParaRPr lang="en-US" sz="1400" dirty="0"/>
          </a:p>
        </p:txBody>
      </p:sp>
      <p:sp>
        <p:nvSpPr>
          <p:cNvPr id="8" name="Text 6"/>
          <p:cNvSpPr/>
          <p:nvPr/>
        </p:nvSpPr>
        <p:spPr>
          <a:xfrm>
            <a:off x="548640" y="3493008"/>
            <a:ext cx="7315200" cy="256032"/>
          </a:xfrm>
          <a:prstGeom prst="rect">
            <a:avLst/>
          </a:prstGeom>
          <a:noFill/>
          <a:ln/>
        </p:spPr>
        <p:txBody>
          <a:bodyPr wrap="square" lIns="0" tIns="0" rIns="0" bIns="0" rtlCol="0" anchor="ctr"/>
          <a:lstStyle/>
          <a:p>
            <a:pPr indent="0" marL="0">
              <a:buNone/>
            </a:pPr>
            <a:r>
              <a:rPr lang="en-US" sz="1200" dirty="0">
                <a:solidFill>
                  <a:srgbClr val="8899AA"/>
                </a:solidFill>
                <a:latin typeface="Arial" pitchFamily="34" charset="0"/>
                <a:ea typeface="Arial" pitchFamily="34" charset="-122"/>
                <a:cs typeface="Arial" pitchFamily="34" charset="-120"/>
              </a:rPr>
              <a:t>CMP720 Embedded System Design  ·  Hacettepe University  ·  Spring 2026</a:t>
            </a:r>
            <a:endParaRPr lang="en-US" sz="1200" dirty="0"/>
          </a:p>
        </p:txBody>
      </p:sp>
      <p:sp>
        <p:nvSpPr>
          <p:cNvPr id="9" name="Shape 7"/>
          <p:cNvSpPr/>
          <p:nvPr/>
        </p:nvSpPr>
        <p:spPr>
          <a:xfrm>
            <a:off x="548640" y="4343400"/>
            <a:ext cx="1609344" cy="347472"/>
          </a:xfrm>
          <a:prstGeom prst="roundRect">
            <a:avLst>
              <a:gd name="adj" fmla="val 26316"/>
            </a:avLst>
          </a:prstGeom>
          <a:solidFill>
            <a:srgbClr val="1F3A5F"/>
          </a:solidFill>
          <a:ln/>
        </p:spPr>
      </p:sp>
      <p:sp>
        <p:nvSpPr>
          <p:cNvPr id="10" name="Text 8"/>
          <p:cNvSpPr/>
          <p:nvPr/>
        </p:nvSpPr>
        <p:spPr>
          <a:xfrm>
            <a:off x="548640" y="4343400"/>
            <a:ext cx="1609344" cy="347472"/>
          </a:xfrm>
          <a:prstGeom prst="rect">
            <a:avLst/>
          </a:prstGeom>
          <a:noFill/>
          <a:ln/>
        </p:spPr>
        <p:txBody>
          <a:bodyPr wrap="square" lIns="0" tIns="0" rIns="0" bIns="0" rtlCol="0" anchor="ctr"/>
          <a:lstStyle/>
          <a:p>
            <a:pPr algn="ctr" indent="0" marL="0">
              <a:buNone/>
            </a:pPr>
            <a:r>
              <a:rPr lang="en-US" sz="900" dirty="0">
                <a:solidFill>
                  <a:srgbClr val="00B4D8"/>
                </a:solidFill>
                <a:latin typeface="Arial" pitchFamily="34" charset="0"/>
                <a:ea typeface="Arial" pitchFamily="34" charset="-122"/>
                <a:cs typeface="Arial" pitchFamily="34" charset="-120"/>
              </a:rPr>
              <a:t>Phi-3 Mini Q4_K_M</a:t>
            </a:r>
            <a:endParaRPr lang="en-US" sz="900" dirty="0"/>
          </a:p>
        </p:txBody>
      </p:sp>
      <p:sp>
        <p:nvSpPr>
          <p:cNvPr id="11" name="Shape 9"/>
          <p:cNvSpPr/>
          <p:nvPr/>
        </p:nvSpPr>
        <p:spPr>
          <a:xfrm>
            <a:off x="2267712" y="4343400"/>
            <a:ext cx="1609344" cy="347472"/>
          </a:xfrm>
          <a:prstGeom prst="roundRect">
            <a:avLst>
              <a:gd name="adj" fmla="val 26316"/>
            </a:avLst>
          </a:prstGeom>
          <a:solidFill>
            <a:srgbClr val="1F3A5F"/>
          </a:solidFill>
          <a:ln/>
        </p:spPr>
      </p:sp>
      <p:sp>
        <p:nvSpPr>
          <p:cNvPr id="12" name="Text 10"/>
          <p:cNvSpPr/>
          <p:nvPr/>
        </p:nvSpPr>
        <p:spPr>
          <a:xfrm>
            <a:off x="2267712" y="4343400"/>
            <a:ext cx="1609344" cy="347472"/>
          </a:xfrm>
          <a:prstGeom prst="rect">
            <a:avLst/>
          </a:prstGeom>
          <a:noFill/>
          <a:ln/>
        </p:spPr>
        <p:txBody>
          <a:bodyPr wrap="square" lIns="0" tIns="0" rIns="0" bIns="0" rtlCol="0" anchor="ctr"/>
          <a:lstStyle/>
          <a:p>
            <a:pPr algn="ctr" indent="0" marL="0">
              <a:buNone/>
            </a:pPr>
            <a:r>
              <a:rPr lang="en-US" sz="900" dirty="0">
                <a:solidFill>
                  <a:srgbClr val="00B4D8"/>
                </a:solidFill>
                <a:latin typeface="Arial" pitchFamily="34" charset="0"/>
                <a:ea typeface="Arial" pitchFamily="34" charset="-122"/>
                <a:cs typeface="Arial" pitchFamily="34" charset="-120"/>
              </a:rPr>
              <a:t>FAISS</a:t>
            </a:r>
            <a:endParaRPr lang="en-US" sz="900" dirty="0"/>
          </a:p>
        </p:txBody>
      </p:sp>
      <p:sp>
        <p:nvSpPr>
          <p:cNvPr id="13" name="Shape 11"/>
          <p:cNvSpPr/>
          <p:nvPr/>
        </p:nvSpPr>
        <p:spPr>
          <a:xfrm>
            <a:off x="3986784" y="4343400"/>
            <a:ext cx="1609344" cy="347472"/>
          </a:xfrm>
          <a:prstGeom prst="roundRect">
            <a:avLst>
              <a:gd name="adj" fmla="val 26316"/>
            </a:avLst>
          </a:prstGeom>
          <a:solidFill>
            <a:srgbClr val="1F3A5F"/>
          </a:solidFill>
          <a:ln/>
        </p:spPr>
      </p:sp>
      <p:sp>
        <p:nvSpPr>
          <p:cNvPr id="14" name="Text 12"/>
          <p:cNvSpPr/>
          <p:nvPr/>
        </p:nvSpPr>
        <p:spPr>
          <a:xfrm>
            <a:off x="3986784" y="4343400"/>
            <a:ext cx="1609344" cy="347472"/>
          </a:xfrm>
          <a:prstGeom prst="rect">
            <a:avLst/>
          </a:prstGeom>
          <a:noFill/>
          <a:ln/>
        </p:spPr>
        <p:txBody>
          <a:bodyPr wrap="square" lIns="0" tIns="0" rIns="0" bIns="0" rtlCol="0" anchor="ctr"/>
          <a:lstStyle/>
          <a:p>
            <a:pPr algn="ctr" indent="0" marL="0">
              <a:buNone/>
            </a:pPr>
            <a:r>
              <a:rPr lang="en-US" sz="900" dirty="0">
                <a:solidFill>
                  <a:srgbClr val="00B4D8"/>
                </a:solidFill>
                <a:latin typeface="Arial" pitchFamily="34" charset="0"/>
                <a:ea typeface="Arial" pitchFamily="34" charset="-122"/>
                <a:cs typeface="Arial" pitchFamily="34" charset="-120"/>
              </a:rPr>
              <a:t>llama.cpp</a:t>
            </a:r>
            <a:endParaRPr lang="en-US" sz="900" dirty="0"/>
          </a:p>
        </p:txBody>
      </p:sp>
      <p:sp>
        <p:nvSpPr>
          <p:cNvPr id="15" name="Shape 13"/>
          <p:cNvSpPr/>
          <p:nvPr/>
        </p:nvSpPr>
        <p:spPr>
          <a:xfrm>
            <a:off x="5705856" y="4343400"/>
            <a:ext cx="1609344" cy="347472"/>
          </a:xfrm>
          <a:prstGeom prst="roundRect">
            <a:avLst>
              <a:gd name="adj" fmla="val 26316"/>
            </a:avLst>
          </a:prstGeom>
          <a:solidFill>
            <a:srgbClr val="1F3A5F"/>
          </a:solidFill>
          <a:ln/>
        </p:spPr>
      </p:sp>
      <p:sp>
        <p:nvSpPr>
          <p:cNvPr id="16" name="Text 14"/>
          <p:cNvSpPr/>
          <p:nvPr/>
        </p:nvSpPr>
        <p:spPr>
          <a:xfrm>
            <a:off x="5705856" y="4343400"/>
            <a:ext cx="1609344" cy="347472"/>
          </a:xfrm>
          <a:prstGeom prst="rect">
            <a:avLst/>
          </a:prstGeom>
          <a:noFill/>
          <a:ln/>
        </p:spPr>
        <p:txBody>
          <a:bodyPr wrap="square" lIns="0" tIns="0" rIns="0" bIns="0" rtlCol="0" anchor="ctr"/>
          <a:lstStyle/>
          <a:p>
            <a:pPr algn="ctr" indent="0" marL="0">
              <a:buNone/>
            </a:pPr>
            <a:r>
              <a:rPr lang="en-US" sz="900" dirty="0">
                <a:solidFill>
                  <a:srgbClr val="00B4D8"/>
                </a:solidFill>
                <a:latin typeface="Arial" pitchFamily="34" charset="0"/>
                <a:ea typeface="Arial" pitchFamily="34" charset="-122"/>
                <a:cs typeface="Arial" pitchFamily="34" charset="-120"/>
              </a:rPr>
              <a:t>LangChain</a:t>
            </a:r>
            <a:endParaRPr lang="en-US" sz="900" dirty="0"/>
          </a:p>
        </p:txBody>
      </p:sp>
      <p:sp>
        <p:nvSpPr>
          <p:cNvPr id="17" name="Shape 15"/>
          <p:cNvSpPr/>
          <p:nvPr/>
        </p:nvSpPr>
        <p:spPr>
          <a:xfrm>
            <a:off x="7424928" y="4343400"/>
            <a:ext cx="1609344" cy="347472"/>
          </a:xfrm>
          <a:prstGeom prst="roundRect">
            <a:avLst>
              <a:gd name="adj" fmla="val 26316"/>
            </a:avLst>
          </a:prstGeom>
          <a:solidFill>
            <a:srgbClr val="1F3A5F"/>
          </a:solidFill>
          <a:ln/>
        </p:spPr>
      </p:sp>
      <p:sp>
        <p:nvSpPr>
          <p:cNvPr id="18" name="Text 16"/>
          <p:cNvSpPr/>
          <p:nvPr/>
        </p:nvSpPr>
        <p:spPr>
          <a:xfrm>
            <a:off x="7424928" y="4343400"/>
            <a:ext cx="1609344" cy="347472"/>
          </a:xfrm>
          <a:prstGeom prst="rect">
            <a:avLst/>
          </a:prstGeom>
          <a:noFill/>
          <a:ln/>
        </p:spPr>
        <p:txBody>
          <a:bodyPr wrap="square" lIns="0" tIns="0" rIns="0" bIns="0" rtlCol="0" anchor="ctr"/>
          <a:lstStyle/>
          <a:p>
            <a:pPr algn="ctr" indent="0" marL="0">
              <a:buNone/>
            </a:pPr>
            <a:r>
              <a:rPr lang="en-US" sz="900" dirty="0">
                <a:solidFill>
                  <a:srgbClr val="00B4D8"/>
                </a:solidFill>
                <a:latin typeface="Arial" pitchFamily="34" charset="0"/>
                <a:ea typeface="Arial" pitchFamily="34" charset="-122"/>
                <a:cs typeface="Arial" pitchFamily="34" charset="-120"/>
              </a:rPr>
              <a:t>QEMU ARM64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A5F"/>
          </a:solidFill>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1. Problem Definition</a:t>
            </a:r>
            <a:endParaRPr lang="en-US" sz="2400" dirty="0"/>
          </a:p>
        </p:txBody>
      </p:sp>
      <p:sp>
        <p:nvSpPr>
          <p:cNvPr id="4" name="Shape 2"/>
          <p:cNvSpPr/>
          <p:nvPr/>
        </p:nvSpPr>
        <p:spPr>
          <a:xfrm>
            <a:off x="320040" y="960120"/>
            <a:ext cx="2706624" cy="2560320"/>
          </a:xfrm>
          <a:prstGeom prst="roundRect">
            <a:avLst>
              <a:gd name="adj" fmla="val 5000"/>
            </a:avLst>
          </a:prstGeom>
          <a:solidFill>
            <a:srgbClr val="FFFFFF"/>
          </a:solidFill>
          <a:ln/>
          <a:effectLst>
            <a:outerShdw sx="100000" sy="100000" kx="0" ky="0" algn="bl" rotWithShape="0" blurRad="101600" dist="25400" dir="2700000">
              <a:srgbClr val="000000">
                <a:alpha val="10000"/>
              </a:srgbClr>
            </a:outerShdw>
          </a:effectLst>
        </p:spPr>
      </p:sp>
      <p:sp>
        <p:nvSpPr>
          <p:cNvPr id="5" name="Shape 3"/>
          <p:cNvSpPr/>
          <p:nvPr/>
        </p:nvSpPr>
        <p:spPr>
          <a:xfrm>
            <a:off x="1399032" y="1097280"/>
            <a:ext cx="548640" cy="548640"/>
          </a:xfrm>
          <a:prstGeom prst="ellipse">
            <a:avLst/>
          </a:prstGeom>
          <a:solidFill>
            <a:srgbClr val="1F3A5F"/>
          </a:solidFill>
          <a:ln/>
        </p:spPr>
      </p:sp>
      <p:pic>
        <p:nvPicPr>
          <p:cNvPr id="6" name="Image 0" descr="preencoded.png">    </p:cNvPr>
          <p:cNvPicPr>
            <a:picLocks noChangeAspect="1"/>
          </p:cNvPicPr>
          <p:nvPr/>
        </p:nvPicPr>
        <p:blipFill>
          <a:blip r:embed="rId1"/>
          <a:stretch>
            <a:fillRect/>
          </a:stretch>
        </p:blipFill>
        <p:spPr>
          <a:xfrm>
            <a:off x="1481328" y="1161288"/>
            <a:ext cx="384048" cy="384048"/>
          </a:xfrm>
          <a:prstGeom prst="rect">
            <a:avLst/>
          </a:prstGeom>
        </p:spPr>
      </p:pic>
      <p:sp>
        <p:nvSpPr>
          <p:cNvPr id="7" name="Text 4"/>
          <p:cNvSpPr/>
          <p:nvPr/>
        </p:nvSpPr>
        <p:spPr>
          <a:xfrm>
            <a:off x="429768" y="1737360"/>
            <a:ext cx="2487168" cy="402336"/>
          </a:xfrm>
          <a:prstGeom prst="rect">
            <a:avLst/>
          </a:prstGeom>
          <a:noFill/>
          <a:ln/>
        </p:spPr>
        <p:txBody>
          <a:bodyPr wrap="square" lIns="0" tIns="0" rIns="0" bIns="0" rtlCol="0" anchor="ctr"/>
          <a:lstStyle/>
          <a:p>
            <a:pPr algn="ctr" indent="0" marL="0">
              <a:buNone/>
            </a:pPr>
            <a:r>
              <a:rPr lang="en-US" sz="1300" b="1" dirty="0">
                <a:solidFill>
                  <a:srgbClr val="1F3A5F"/>
                </a:solidFill>
                <a:latin typeface="Arial" pitchFamily="34" charset="0"/>
                <a:ea typeface="Arial" pitchFamily="34" charset="-122"/>
                <a:cs typeface="Arial" pitchFamily="34" charset="-120"/>
              </a:rPr>
              <a:t>Air-Gapped Networks</a:t>
            </a:r>
            <a:endParaRPr lang="en-US" sz="1300" dirty="0"/>
          </a:p>
        </p:txBody>
      </p:sp>
      <p:sp>
        <p:nvSpPr>
          <p:cNvPr id="8" name="Text 5"/>
          <p:cNvSpPr/>
          <p:nvPr/>
        </p:nvSpPr>
        <p:spPr>
          <a:xfrm>
            <a:off x="429768" y="2176272"/>
            <a:ext cx="2487168" cy="1188720"/>
          </a:xfrm>
          <a:prstGeom prst="rect">
            <a:avLst/>
          </a:prstGeom>
          <a:noFill/>
          <a:ln/>
        </p:spPr>
        <p:txBody>
          <a:bodyPr wrap="square" lIns="0" tIns="0" rIns="0" bIns="0" rtlCol="0" anchor="ctr"/>
          <a:lstStyle/>
          <a:p>
            <a:pPr algn="ctr" indent="0" marL="0">
              <a:buNone/>
            </a:pPr>
            <a:r>
              <a:rPr lang="en-US" sz="1100" dirty="0">
                <a:solidFill>
                  <a:srgbClr val="64748B"/>
                </a:solidFill>
                <a:latin typeface="Arial" pitchFamily="34" charset="0"/>
                <a:ea typeface="Arial" pitchFamily="34" charset="-122"/>
                <a:cs typeface="Arial" pitchFamily="34" charset="-120"/>
              </a:rPr>
              <a:t>Defense, industrial IoT, remote infrastructure — no internet at all.</a:t>
            </a:r>
            <a:endParaRPr lang="en-US" sz="1100" dirty="0"/>
          </a:p>
        </p:txBody>
      </p:sp>
      <p:sp>
        <p:nvSpPr>
          <p:cNvPr id="9" name="Shape 6"/>
          <p:cNvSpPr/>
          <p:nvPr/>
        </p:nvSpPr>
        <p:spPr>
          <a:xfrm>
            <a:off x="3182112" y="960120"/>
            <a:ext cx="2706624" cy="2560320"/>
          </a:xfrm>
          <a:prstGeom prst="roundRect">
            <a:avLst>
              <a:gd name="adj" fmla="val 5000"/>
            </a:avLst>
          </a:prstGeom>
          <a:solidFill>
            <a:srgbClr val="FFFFFF"/>
          </a:solidFill>
          <a:ln/>
          <a:effectLst>
            <a:outerShdw sx="100000" sy="100000" kx="0" ky="0" algn="bl" rotWithShape="0" blurRad="101600" dist="25400" dir="2700000">
              <a:srgbClr val="000000">
                <a:alpha val="10000"/>
              </a:srgbClr>
            </a:outerShdw>
          </a:effectLst>
        </p:spPr>
      </p:sp>
      <p:sp>
        <p:nvSpPr>
          <p:cNvPr id="10" name="Shape 7"/>
          <p:cNvSpPr/>
          <p:nvPr/>
        </p:nvSpPr>
        <p:spPr>
          <a:xfrm>
            <a:off x="4261104" y="1097280"/>
            <a:ext cx="548640" cy="548640"/>
          </a:xfrm>
          <a:prstGeom prst="ellipse">
            <a:avLst/>
          </a:prstGeom>
          <a:solidFill>
            <a:srgbClr val="2E75B6"/>
          </a:solidFill>
          <a:ln/>
        </p:spPr>
      </p:sp>
      <p:pic>
        <p:nvPicPr>
          <p:cNvPr id="11" name="Image 1" descr="preencoded.png">    </p:cNvPr>
          <p:cNvPicPr>
            <a:picLocks noChangeAspect="1"/>
          </p:cNvPicPr>
          <p:nvPr/>
        </p:nvPicPr>
        <p:blipFill>
          <a:blip r:embed="rId2"/>
          <a:stretch>
            <a:fillRect/>
          </a:stretch>
        </p:blipFill>
        <p:spPr>
          <a:xfrm>
            <a:off x="4343400" y="1161288"/>
            <a:ext cx="384048" cy="384048"/>
          </a:xfrm>
          <a:prstGeom prst="rect">
            <a:avLst/>
          </a:prstGeom>
        </p:spPr>
      </p:pic>
      <p:sp>
        <p:nvSpPr>
          <p:cNvPr id="12" name="Text 8"/>
          <p:cNvSpPr/>
          <p:nvPr/>
        </p:nvSpPr>
        <p:spPr>
          <a:xfrm>
            <a:off x="3291840" y="1737360"/>
            <a:ext cx="2487168" cy="402336"/>
          </a:xfrm>
          <a:prstGeom prst="rect">
            <a:avLst/>
          </a:prstGeom>
          <a:noFill/>
          <a:ln/>
        </p:spPr>
        <p:txBody>
          <a:bodyPr wrap="square" lIns="0" tIns="0" rIns="0" bIns="0" rtlCol="0" anchor="ctr"/>
          <a:lstStyle/>
          <a:p>
            <a:pPr algn="ctr" indent="0" marL="0">
              <a:buNone/>
            </a:pPr>
            <a:r>
              <a:rPr lang="en-US" sz="1300" b="1" dirty="0">
                <a:solidFill>
                  <a:srgbClr val="1F3A5F"/>
                </a:solidFill>
                <a:latin typeface="Arial" pitchFamily="34" charset="0"/>
                <a:ea typeface="Arial" pitchFamily="34" charset="-122"/>
                <a:cs typeface="Arial" pitchFamily="34" charset="-120"/>
              </a:rPr>
              <a:t>Privacy-Critical Systems</a:t>
            </a:r>
            <a:endParaRPr lang="en-US" sz="1300" dirty="0"/>
          </a:p>
        </p:txBody>
      </p:sp>
      <p:sp>
        <p:nvSpPr>
          <p:cNvPr id="13" name="Text 9"/>
          <p:cNvSpPr/>
          <p:nvPr/>
        </p:nvSpPr>
        <p:spPr>
          <a:xfrm>
            <a:off x="3291840" y="2176272"/>
            <a:ext cx="2487168" cy="1188720"/>
          </a:xfrm>
          <a:prstGeom prst="rect">
            <a:avLst/>
          </a:prstGeom>
          <a:noFill/>
          <a:ln/>
        </p:spPr>
        <p:txBody>
          <a:bodyPr wrap="square" lIns="0" tIns="0" rIns="0" bIns="0" rtlCol="0" anchor="ctr"/>
          <a:lstStyle/>
          <a:p>
            <a:pPr algn="ctr" indent="0" marL="0">
              <a:buNone/>
            </a:pPr>
            <a:r>
              <a:rPr lang="en-US" sz="1100" dirty="0">
                <a:solidFill>
                  <a:srgbClr val="64748B"/>
                </a:solidFill>
                <a:latin typeface="Arial" pitchFamily="34" charset="0"/>
                <a:ea typeface="Arial" pitchFamily="34" charset="-122"/>
                <a:cs typeface="Arial" pitchFamily="34" charset="-120"/>
              </a:rPr>
              <a:t>Medical devices, legal analysis — data must never leave the device.</a:t>
            </a:r>
            <a:endParaRPr lang="en-US" sz="1100" dirty="0"/>
          </a:p>
        </p:txBody>
      </p:sp>
      <p:sp>
        <p:nvSpPr>
          <p:cNvPr id="14" name="Shape 10"/>
          <p:cNvSpPr/>
          <p:nvPr/>
        </p:nvSpPr>
        <p:spPr>
          <a:xfrm>
            <a:off x="6044184" y="960120"/>
            <a:ext cx="2706624" cy="2560320"/>
          </a:xfrm>
          <a:prstGeom prst="roundRect">
            <a:avLst>
              <a:gd name="adj" fmla="val 5000"/>
            </a:avLst>
          </a:prstGeom>
          <a:solidFill>
            <a:srgbClr val="FFFFFF"/>
          </a:solidFill>
          <a:ln/>
          <a:effectLst>
            <a:outerShdw sx="100000" sy="100000" kx="0" ky="0" algn="bl" rotWithShape="0" blurRad="101600" dist="25400" dir="2700000">
              <a:srgbClr val="000000">
                <a:alpha val="10000"/>
              </a:srgbClr>
            </a:outerShdw>
          </a:effectLst>
        </p:spPr>
      </p:sp>
      <p:sp>
        <p:nvSpPr>
          <p:cNvPr id="15" name="Shape 11"/>
          <p:cNvSpPr/>
          <p:nvPr/>
        </p:nvSpPr>
        <p:spPr>
          <a:xfrm>
            <a:off x="7123176" y="1097280"/>
            <a:ext cx="548640" cy="548640"/>
          </a:xfrm>
          <a:prstGeom prst="ellipse">
            <a:avLst/>
          </a:prstGeom>
          <a:solidFill>
            <a:srgbClr val="00B4D8"/>
          </a:solidFill>
          <a:ln/>
        </p:spPr>
      </p:sp>
      <p:pic>
        <p:nvPicPr>
          <p:cNvPr id="16" name="Image 2" descr="preencoded.png">    </p:cNvPr>
          <p:cNvPicPr>
            <a:picLocks noChangeAspect="1"/>
          </p:cNvPicPr>
          <p:nvPr/>
        </p:nvPicPr>
        <p:blipFill>
          <a:blip r:embed="rId3"/>
          <a:stretch>
            <a:fillRect/>
          </a:stretch>
        </p:blipFill>
        <p:spPr>
          <a:xfrm>
            <a:off x="7205472" y="1161288"/>
            <a:ext cx="384048" cy="384048"/>
          </a:xfrm>
          <a:prstGeom prst="rect">
            <a:avLst/>
          </a:prstGeom>
        </p:spPr>
      </p:pic>
      <p:sp>
        <p:nvSpPr>
          <p:cNvPr id="17" name="Text 12"/>
          <p:cNvSpPr/>
          <p:nvPr/>
        </p:nvSpPr>
        <p:spPr>
          <a:xfrm>
            <a:off x="6153912" y="1737360"/>
            <a:ext cx="2487168" cy="402336"/>
          </a:xfrm>
          <a:prstGeom prst="rect">
            <a:avLst/>
          </a:prstGeom>
          <a:noFill/>
          <a:ln/>
        </p:spPr>
        <p:txBody>
          <a:bodyPr wrap="square" lIns="0" tIns="0" rIns="0" bIns="0" rtlCol="0" anchor="ctr"/>
          <a:lstStyle/>
          <a:p>
            <a:pPr algn="ctr" indent="0" marL="0">
              <a:buNone/>
            </a:pPr>
            <a:r>
              <a:rPr lang="en-US" sz="1300" b="1" dirty="0">
                <a:solidFill>
                  <a:srgbClr val="1F3A5F"/>
                </a:solidFill>
                <a:latin typeface="Arial" pitchFamily="34" charset="0"/>
                <a:ea typeface="Arial" pitchFamily="34" charset="-122"/>
                <a:cs typeface="Arial" pitchFamily="34" charset="-120"/>
              </a:rPr>
              <a:t>Energy-Constrained Edge</a:t>
            </a:r>
            <a:endParaRPr lang="en-US" sz="1300" dirty="0"/>
          </a:p>
        </p:txBody>
      </p:sp>
      <p:sp>
        <p:nvSpPr>
          <p:cNvPr id="18" name="Text 13"/>
          <p:cNvSpPr/>
          <p:nvPr/>
        </p:nvSpPr>
        <p:spPr>
          <a:xfrm>
            <a:off x="6153912" y="2176272"/>
            <a:ext cx="2487168" cy="1188720"/>
          </a:xfrm>
          <a:prstGeom prst="rect">
            <a:avLst/>
          </a:prstGeom>
          <a:noFill/>
          <a:ln/>
        </p:spPr>
        <p:txBody>
          <a:bodyPr wrap="square" lIns="0" tIns="0" rIns="0" bIns="0" rtlCol="0" anchor="ctr"/>
          <a:lstStyle/>
          <a:p>
            <a:pPr algn="ctr" indent="0" marL="0">
              <a:buNone/>
            </a:pPr>
            <a:r>
              <a:rPr lang="en-US" sz="1100" dirty="0">
                <a:solidFill>
                  <a:srgbClr val="64748B"/>
                </a:solidFill>
                <a:latin typeface="Arial" pitchFamily="34" charset="0"/>
                <a:ea typeface="Arial" pitchFamily="34" charset="-122"/>
                <a:cs typeface="Arial" pitchFamily="34" charset="-120"/>
              </a:rPr>
              <a:t>Cloud round-trips drain power on remote sensors and robots.</a:t>
            </a:r>
            <a:endParaRPr lang="en-US" sz="1100" dirty="0"/>
          </a:p>
        </p:txBody>
      </p:sp>
      <p:sp>
        <p:nvSpPr>
          <p:cNvPr id="19" name="Shape 14"/>
          <p:cNvSpPr/>
          <p:nvPr/>
        </p:nvSpPr>
        <p:spPr>
          <a:xfrm>
            <a:off x="320040" y="3703320"/>
            <a:ext cx="8503920" cy="804672"/>
          </a:xfrm>
          <a:prstGeom prst="rect">
            <a:avLst/>
          </a:prstGeom>
          <a:solidFill>
            <a:srgbClr val="1F3A5F"/>
          </a:solidFill>
          <a:ln/>
        </p:spPr>
      </p:sp>
      <p:sp>
        <p:nvSpPr>
          <p:cNvPr id="20" name="Text 15"/>
          <p:cNvSpPr/>
          <p:nvPr/>
        </p:nvSpPr>
        <p:spPr>
          <a:xfrm>
            <a:off x="457200" y="3703320"/>
            <a:ext cx="8229600" cy="8046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Solution: EdgeRAG — fully offline RAG pipeline on constrained ARM hardware. No cloud required.</a:t>
            </a:r>
            <a:endParaRPr lang="en-US" sz="1300" dirty="0"/>
          </a:p>
        </p:txBody>
      </p:sp>
      <p:sp>
        <p:nvSpPr>
          <p:cNvPr id="21" name="Text 16"/>
          <p:cNvSpPr/>
          <p:nvPr/>
        </p:nvSpPr>
        <p:spPr>
          <a:xfrm>
            <a:off x="274320" y="4846320"/>
            <a:ext cx="8595360" cy="274320"/>
          </a:xfrm>
          <a:prstGeom prst="rect">
            <a:avLst/>
          </a:prstGeom>
          <a:noFill/>
          <a:ln/>
        </p:spPr>
        <p:txBody>
          <a:bodyPr wrap="square"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EdgeRAG  |  CMP720 Spring 2026  |  Hüseyin Eren Doğan  |  </a:t>
            </a:r>
            <a:pPr algn="ctr" indent="0" marL="0">
              <a:buNone/>
            </a:pPr>
            <a:r>
              <a:rPr lang="en-US" sz="900" b="1" dirty="0">
                <a:solidFill>
                  <a:srgbClr val="00B4D8"/>
                </a:solidFill>
                <a:latin typeface="Arial" pitchFamily="34" charset="0"/>
                <a:ea typeface="Arial" pitchFamily="34" charset="-122"/>
                <a:cs typeface="Arial" pitchFamily="34" charset="-120"/>
              </a:rPr>
              <a:t>Problem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A5F"/>
          </a:solidFill>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2. Proposed Methodology (Proposal Summary)</a:t>
            </a:r>
            <a:endParaRPr lang="en-US" sz="2400" dirty="0"/>
          </a:p>
        </p:txBody>
      </p:sp>
      <p:sp>
        <p:nvSpPr>
          <p:cNvPr id="4" name="Shape 2"/>
          <p:cNvSpPr/>
          <p:nvPr/>
        </p:nvSpPr>
        <p:spPr>
          <a:xfrm>
            <a:off x="320040" y="960120"/>
            <a:ext cx="4114800" cy="3566160"/>
          </a:xfrm>
          <a:prstGeom prst="roundRect">
            <a:avLst>
              <a:gd name="adj" fmla="val 3077"/>
            </a:avLst>
          </a:prstGeom>
          <a:solidFill>
            <a:srgbClr val="FFFFFF"/>
          </a:solidFill>
          <a:ln/>
          <a:effectLst>
            <a:outerShdw sx="100000" sy="100000" kx="0" ky="0" algn="bl" rotWithShape="0" blurRad="76200" dist="25400" dir="2700000">
              <a:srgbClr val="000000">
                <a:alpha val="8000"/>
              </a:srgbClr>
            </a:outerShdw>
          </a:effectLst>
        </p:spPr>
      </p:sp>
      <p:sp>
        <p:nvSpPr>
          <p:cNvPr id="5" name="Text 3"/>
          <p:cNvSpPr/>
          <p:nvPr/>
        </p:nvSpPr>
        <p:spPr>
          <a:xfrm>
            <a:off x="457200" y="1024128"/>
            <a:ext cx="3840480" cy="347472"/>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Target Platform</a:t>
            </a:r>
            <a:endParaRPr lang="en-US" sz="1400" dirty="0"/>
          </a:p>
        </p:txBody>
      </p:sp>
      <p:sp>
        <p:nvSpPr>
          <p:cNvPr id="6" name="Text 4"/>
          <p:cNvSpPr/>
          <p:nvPr/>
        </p:nvSpPr>
        <p:spPr>
          <a:xfrm>
            <a:off x="502920" y="1463040"/>
            <a:ext cx="3749040" cy="34747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  QEMU ARM Cortex-A53 (AArch64)</a:t>
            </a:r>
            <a:endParaRPr lang="en-US" sz="1100" dirty="0"/>
          </a:p>
        </p:txBody>
      </p:sp>
      <p:sp>
        <p:nvSpPr>
          <p:cNvPr id="7" name="Text 5"/>
          <p:cNvSpPr/>
          <p:nvPr/>
        </p:nvSpPr>
        <p:spPr>
          <a:xfrm>
            <a:off x="502920" y="1847088"/>
            <a:ext cx="3749040" cy="34747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  Ubuntu 22.04 LTS (minimal)</a:t>
            </a:r>
            <a:endParaRPr lang="en-US" sz="1100" dirty="0"/>
          </a:p>
        </p:txBody>
      </p:sp>
      <p:sp>
        <p:nvSpPr>
          <p:cNvPr id="8" name="Text 6"/>
          <p:cNvSpPr/>
          <p:nvPr/>
        </p:nvSpPr>
        <p:spPr>
          <a:xfrm>
            <a:off x="502920" y="2231136"/>
            <a:ext cx="3749040" cy="34747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  2 GB RAM  ·  2 vCPU @ 1 GHz</a:t>
            </a:r>
            <a:endParaRPr lang="en-US" sz="1100" dirty="0"/>
          </a:p>
        </p:txBody>
      </p:sp>
      <p:sp>
        <p:nvSpPr>
          <p:cNvPr id="9" name="Text 7"/>
          <p:cNvSpPr/>
          <p:nvPr/>
        </p:nvSpPr>
        <p:spPr>
          <a:xfrm>
            <a:off x="502920" y="2615184"/>
            <a:ext cx="3749040" cy="34747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  No network access (-net none)</a:t>
            </a:r>
            <a:endParaRPr lang="en-US" sz="1100" dirty="0"/>
          </a:p>
        </p:txBody>
      </p:sp>
      <p:sp>
        <p:nvSpPr>
          <p:cNvPr id="10" name="Text 8"/>
          <p:cNvSpPr/>
          <p:nvPr/>
        </p:nvSpPr>
        <p:spPr>
          <a:xfrm>
            <a:off x="502920" y="3017520"/>
            <a:ext cx="3749040" cy="1325880"/>
          </a:xfrm>
          <a:prstGeom prst="rect">
            <a:avLst/>
          </a:prstGeom>
          <a:noFill/>
          <a:ln/>
        </p:spPr>
        <p:txBody>
          <a:bodyPr wrap="square" lIns="0" tIns="0" rIns="0" bIns="0" rtlCol="0" anchor="ctr"/>
          <a:lstStyle/>
          <a:p>
            <a:pPr indent="0" marL="0">
              <a:buNone/>
            </a:pPr>
            <a:r>
              <a:rPr lang="en-US" sz="1100" dirty="0">
                <a:solidFill>
                  <a:srgbClr val="2E75B6"/>
                </a:solidFill>
                <a:latin typeface="Arial" pitchFamily="34" charset="0"/>
                <a:ea typeface="Arial" pitchFamily="34" charset="-122"/>
                <a:cs typeface="Arial" pitchFamily="34" charset="-120"/>
              </a:rPr>
              <a:t>KPN Model of Computation</a:t>
            </a:r>
            <a:endParaRPr lang="en-US" sz="1100" dirty="0"/>
          </a:p>
          <a:p>
            <a:pPr indent="0" marL="0">
              <a:buNone/>
            </a:pPr>
            <a:r>
              <a:rPr lang="en-US" sz="1100" dirty="0">
                <a:solidFill>
                  <a:srgbClr val="2E75B6"/>
                </a:solidFill>
                <a:latin typeface="Arial" pitchFamily="34" charset="0"/>
                <a:ea typeface="Arial" pitchFamily="34" charset="-122"/>
                <a:cs typeface="Arial" pitchFamily="34" charset="-120"/>
              </a:rPr>
              <a:t>→ Sequential stages, disk I/O between modules</a:t>
            </a:r>
            <a:endParaRPr lang="en-US" sz="1100" dirty="0"/>
          </a:p>
          <a:p>
            <a:pPr indent="0" marL="0">
              <a:buNone/>
            </a:pPr>
            <a:r>
              <a:rPr lang="en-US" sz="1100" dirty="0">
                <a:solidFill>
                  <a:srgbClr val="2E75B6"/>
                </a:solidFill>
                <a:latin typeface="Arial" pitchFamily="34" charset="0"/>
                <a:ea typeface="Arial" pitchFamily="34" charset="-122"/>
                <a:cs typeface="Arial" pitchFamily="34" charset="-120"/>
              </a:rPr>
              <a:t>→ Single large object in RAM at any time</a:t>
            </a:r>
            <a:endParaRPr lang="en-US" sz="1100" dirty="0"/>
          </a:p>
        </p:txBody>
      </p:sp>
      <p:sp>
        <p:nvSpPr>
          <p:cNvPr id="11" name="Shape 9"/>
          <p:cNvSpPr/>
          <p:nvPr/>
        </p:nvSpPr>
        <p:spPr>
          <a:xfrm>
            <a:off x="4617720" y="960120"/>
            <a:ext cx="4206240" cy="3566160"/>
          </a:xfrm>
          <a:prstGeom prst="roundRect">
            <a:avLst>
              <a:gd name="adj" fmla="val 3077"/>
            </a:avLst>
          </a:prstGeom>
          <a:solidFill>
            <a:srgbClr val="FFFFFF"/>
          </a:solidFill>
          <a:ln/>
          <a:effectLst>
            <a:outerShdw sx="100000" sy="100000" kx="0" ky="0" algn="bl" rotWithShape="0" blurRad="76200" dist="25400" dir="2700000">
              <a:srgbClr val="000000">
                <a:alpha val="8000"/>
              </a:srgbClr>
            </a:outerShdw>
          </a:effectLst>
        </p:spPr>
      </p:sp>
      <p:sp>
        <p:nvSpPr>
          <p:cNvPr id="12" name="Text 10"/>
          <p:cNvSpPr/>
          <p:nvPr/>
        </p:nvSpPr>
        <p:spPr>
          <a:xfrm>
            <a:off x="4754880" y="1024128"/>
            <a:ext cx="3931920" cy="347472"/>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Proposed Pipeline</a:t>
            </a:r>
            <a:endParaRPr lang="en-US" sz="1400" dirty="0"/>
          </a:p>
        </p:txBody>
      </p:sp>
      <p:sp>
        <p:nvSpPr>
          <p:cNvPr id="13" name="Shape 11"/>
          <p:cNvSpPr/>
          <p:nvPr/>
        </p:nvSpPr>
        <p:spPr>
          <a:xfrm>
            <a:off x="4754880" y="1536192"/>
            <a:ext cx="438912" cy="438912"/>
          </a:xfrm>
          <a:prstGeom prst="ellipse">
            <a:avLst/>
          </a:prstGeom>
          <a:solidFill>
            <a:srgbClr val="1F3A5F"/>
          </a:solidFill>
          <a:ln/>
        </p:spPr>
      </p:sp>
      <p:pic>
        <p:nvPicPr>
          <p:cNvPr id="14" name="Image 0" descr="preencoded.png">    </p:cNvPr>
          <p:cNvPicPr>
            <a:picLocks noChangeAspect="1"/>
          </p:cNvPicPr>
          <p:nvPr/>
        </p:nvPicPr>
        <p:blipFill>
          <a:blip r:embed="rId1"/>
          <a:stretch>
            <a:fillRect/>
          </a:stretch>
        </p:blipFill>
        <p:spPr>
          <a:xfrm>
            <a:off x="4818888" y="1572768"/>
            <a:ext cx="310896" cy="310896"/>
          </a:xfrm>
          <a:prstGeom prst="rect">
            <a:avLst/>
          </a:prstGeom>
        </p:spPr>
      </p:pic>
      <p:sp>
        <p:nvSpPr>
          <p:cNvPr id="15" name="Text 12"/>
          <p:cNvSpPr/>
          <p:nvPr/>
        </p:nvSpPr>
        <p:spPr>
          <a:xfrm>
            <a:off x="5285232" y="1481328"/>
            <a:ext cx="3383280" cy="256032"/>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Ingestion</a:t>
            </a:r>
            <a:endParaRPr lang="en-US" sz="1200" dirty="0"/>
          </a:p>
        </p:txBody>
      </p:sp>
      <p:sp>
        <p:nvSpPr>
          <p:cNvPr id="16" name="Text 13"/>
          <p:cNvSpPr/>
          <p:nvPr/>
        </p:nvSpPr>
        <p:spPr>
          <a:xfrm>
            <a:off x="5285232" y="1719072"/>
            <a:ext cx="338328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PDF → chunks (256 tok, 32 overlap)</a:t>
            </a:r>
            <a:endParaRPr lang="en-US" sz="1000" dirty="0"/>
          </a:p>
        </p:txBody>
      </p:sp>
      <p:sp>
        <p:nvSpPr>
          <p:cNvPr id="17" name="Shape 14"/>
          <p:cNvSpPr/>
          <p:nvPr/>
        </p:nvSpPr>
        <p:spPr>
          <a:xfrm>
            <a:off x="4956048" y="1975104"/>
            <a:ext cx="0" cy="201168"/>
          </a:xfrm>
          <a:prstGeom prst="line">
            <a:avLst/>
          </a:prstGeom>
          <a:noFill/>
          <a:ln w="19050">
            <a:solidFill>
              <a:srgbClr val="00B4D8"/>
            </a:solidFill>
            <a:prstDash val="solid"/>
          </a:ln>
        </p:spPr>
      </p:sp>
      <p:sp>
        <p:nvSpPr>
          <p:cNvPr id="18" name="Shape 15"/>
          <p:cNvSpPr/>
          <p:nvPr/>
        </p:nvSpPr>
        <p:spPr>
          <a:xfrm>
            <a:off x="4754880" y="2249424"/>
            <a:ext cx="438912" cy="438912"/>
          </a:xfrm>
          <a:prstGeom prst="ellipse">
            <a:avLst/>
          </a:prstGeom>
          <a:solidFill>
            <a:srgbClr val="1F3A5F"/>
          </a:solidFill>
          <a:ln/>
        </p:spPr>
      </p:sp>
      <p:pic>
        <p:nvPicPr>
          <p:cNvPr id="19" name="Image 1" descr="preencoded.png">    </p:cNvPr>
          <p:cNvPicPr>
            <a:picLocks noChangeAspect="1"/>
          </p:cNvPicPr>
          <p:nvPr/>
        </p:nvPicPr>
        <p:blipFill>
          <a:blip r:embed="rId2"/>
          <a:stretch>
            <a:fillRect/>
          </a:stretch>
        </p:blipFill>
        <p:spPr>
          <a:xfrm>
            <a:off x="4818888" y="2286000"/>
            <a:ext cx="310896" cy="310896"/>
          </a:xfrm>
          <a:prstGeom prst="rect">
            <a:avLst/>
          </a:prstGeom>
        </p:spPr>
      </p:pic>
      <p:sp>
        <p:nvSpPr>
          <p:cNvPr id="20" name="Text 16"/>
          <p:cNvSpPr/>
          <p:nvPr/>
        </p:nvSpPr>
        <p:spPr>
          <a:xfrm>
            <a:off x="5285232" y="2194560"/>
            <a:ext cx="3383280" cy="256032"/>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Embedding</a:t>
            </a:r>
            <a:endParaRPr lang="en-US" sz="1200" dirty="0"/>
          </a:p>
        </p:txBody>
      </p:sp>
      <p:sp>
        <p:nvSpPr>
          <p:cNvPr id="21" name="Text 17"/>
          <p:cNvSpPr/>
          <p:nvPr/>
        </p:nvSpPr>
        <p:spPr>
          <a:xfrm>
            <a:off x="5285232" y="2432304"/>
            <a:ext cx="338328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MiniLM-L6-v2 → FAISS index → disk</a:t>
            </a:r>
            <a:endParaRPr lang="en-US" sz="1000" dirty="0"/>
          </a:p>
        </p:txBody>
      </p:sp>
      <p:sp>
        <p:nvSpPr>
          <p:cNvPr id="22" name="Shape 18"/>
          <p:cNvSpPr/>
          <p:nvPr/>
        </p:nvSpPr>
        <p:spPr>
          <a:xfrm>
            <a:off x="4956048" y="2688336"/>
            <a:ext cx="0" cy="201168"/>
          </a:xfrm>
          <a:prstGeom prst="line">
            <a:avLst/>
          </a:prstGeom>
          <a:noFill/>
          <a:ln w="19050">
            <a:solidFill>
              <a:srgbClr val="00B4D8"/>
            </a:solidFill>
            <a:prstDash val="solid"/>
          </a:ln>
        </p:spPr>
      </p:sp>
      <p:sp>
        <p:nvSpPr>
          <p:cNvPr id="23" name="Shape 19"/>
          <p:cNvSpPr/>
          <p:nvPr/>
        </p:nvSpPr>
        <p:spPr>
          <a:xfrm>
            <a:off x="4754880" y="2962656"/>
            <a:ext cx="438912" cy="438912"/>
          </a:xfrm>
          <a:prstGeom prst="ellipse">
            <a:avLst/>
          </a:prstGeom>
          <a:solidFill>
            <a:srgbClr val="1F3A5F"/>
          </a:solidFill>
          <a:ln/>
        </p:spPr>
      </p:sp>
      <p:pic>
        <p:nvPicPr>
          <p:cNvPr id="24" name="Image 2" descr="preencoded.png">    </p:cNvPr>
          <p:cNvPicPr>
            <a:picLocks noChangeAspect="1"/>
          </p:cNvPicPr>
          <p:nvPr/>
        </p:nvPicPr>
        <p:blipFill>
          <a:blip r:embed="rId3"/>
          <a:stretch>
            <a:fillRect/>
          </a:stretch>
        </p:blipFill>
        <p:spPr>
          <a:xfrm>
            <a:off x="4818888" y="2999232"/>
            <a:ext cx="310896" cy="310896"/>
          </a:xfrm>
          <a:prstGeom prst="rect">
            <a:avLst/>
          </a:prstGeom>
        </p:spPr>
      </p:pic>
      <p:sp>
        <p:nvSpPr>
          <p:cNvPr id="25" name="Text 20"/>
          <p:cNvSpPr/>
          <p:nvPr/>
        </p:nvSpPr>
        <p:spPr>
          <a:xfrm>
            <a:off x="5285232" y="2907792"/>
            <a:ext cx="3383280" cy="256032"/>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Retrieval</a:t>
            </a:r>
            <a:endParaRPr lang="en-US" sz="1200" dirty="0"/>
          </a:p>
        </p:txBody>
      </p:sp>
      <p:sp>
        <p:nvSpPr>
          <p:cNvPr id="26" name="Text 21"/>
          <p:cNvSpPr/>
          <p:nvPr/>
        </p:nvSpPr>
        <p:spPr>
          <a:xfrm>
            <a:off x="5285232" y="3145536"/>
            <a:ext cx="338328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Query embed → top-k=3 chunks</a:t>
            </a:r>
            <a:endParaRPr lang="en-US" sz="1000" dirty="0"/>
          </a:p>
        </p:txBody>
      </p:sp>
      <p:sp>
        <p:nvSpPr>
          <p:cNvPr id="27" name="Shape 22"/>
          <p:cNvSpPr/>
          <p:nvPr/>
        </p:nvSpPr>
        <p:spPr>
          <a:xfrm>
            <a:off x="4956048" y="3401568"/>
            <a:ext cx="0" cy="201168"/>
          </a:xfrm>
          <a:prstGeom prst="line">
            <a:avLst/>
          </a:prstGeom>
          <a:noFill/>
          <a:ln w="19050">
            <a:solidFill>
              <a:srgbClr val="00B4D8"/>
            </a:solidFill>
            <a:prstDash val="solid"/>
          </a:ln>
        </p:spPr>
      </p:sp>
      <p:sp>
        <p:nvSpPr>
          <p:cNvPr id="28" name="Shape 23"/>
          <p:cNvSpPr/>
          <p:nvPr/>
        </p:nvSpPr>
        <p:spPr>
          <a:xfrm>
            <a:off x="4754880" y="3675888"/>
            <a:ext cx="438912" cy="438912"/>
          </a:xfrm>
          <a:prstGeom prst="ellipse">
            <a:avLst/>
          </a:prstGeom>
          <a:solidFill>
            <a:srgbClr val="1F3A5F"/>
          </a:solidFill>
          <a:ln/>
        </p:spPr>
      </p:sp>
      <p:pic>
        <p:nvPicPr>
          <p:cNvPr id="29" name="Image 3" descr="preencoded.png">    </p:cNvPr>
          <p:cNvPicPr>
            <a:picLocks noChangeAspect="1"/>
          </p:cNvPicPr>
          <p:nvPr/>
        </p:nvPicPr>
        <p:blipFill>
          <a:blip r:embed="rId4"/>
          <a:stretch>
            <a:fillRect/>
          </a:stretch>
        </p:blipFill>
        <p:spPr>
          <a:xfrm>
            <a:off x="4818888" y="3712464"/>
            <a:ext cx="310896" cy="310896"/>
          </a:xfrm>
          <a:prstGeom prst="rect">
            <a:avLst/>
          </a:prstGeom>
        </p:spPr>
      </p:pic>
      <p:sp>
        <p:nvSpPr>
          <p:cNvPr id="30" name="Text 24"/>
          <p:cNvSpPr/>
          <p:nvPr/>
        </p:nvSpPr>
        <p:spPr>
          <a:xfrm>
            <a:off x="5285232" y="3621024"/>
            <a:ext cx="3383280" cy="256032"/>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Generation</a:t>
            </a:r>
            <a:endParaRPr lang="en-US" sz="1200" dirty="0"/>
          </a:p>
        </p:txBody>
      </p:sp>
      <p:sp>
        <p:nvSpPr>
          <p:cNvPr id="31" name="Text 25"/>
          <p:cNvSpPr/>
          <p:nvPr/>
        </p:nvSpPr>
        <p:spPr>
          <a:xfrm>
            <a:off x="5285232" y="3858768"/>
            <a:ext cx="338328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Phi-3 Mini Q4_K_M → streamed answer</a:t>
            </a:r>
            <a:endParaRPr lang="en-US" sz="1000" dirty="0"/>
          </a:p>
        </p:txBody>
      </p:sp>
      <p:sp>
        <p:nvSpPr>
          <p:cNvPr id="32" name="Text 26"/>
          <p:cNvSpPr/>
          <p:nvPr/>
        </p:nvSpPr>
        <p:spPr>
          <a:xfrm>
            <a:off x="274320" y="4846320"/>
            <a:ext cx="8595360" cy="274320"/>
          </a:xfrm>
          <a:prstGeom prst="rect">
            <a:avLst/>
          </a:prstGeom>
          <a:noFill/>
          <a:ln/>
        </p:spPr>
        <p:txBody>
          <a:bodyPr wrap="square"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EdgeRAG  |  CMP720 Spring 2026  |  Hüseyin Eren Doğan  |  </a:t>
            </a:r>
            <a:pPr algn="ctr" indent="0" marL="0">
              <a:buNone/>
            </a:pPr>
            <a:r>
              <a:rPr lang="en-US" sz="900" b="1" dirty="0">
                <a:solidFill>
                  <a:srgbClr val="00B4D8"/>
                </a:solidFill>
                <a:latin typeface="Arial" pitchFamily="34" charset="0"/>
                <a:ea typeface="Arial" pitchFamily="34" charset="-122"/>
                <a:cs typeface="Arial" pitchFamily="34" charset="-120"/>
              </a:rPr>
              <a:t>Methodology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A5F"/>
          </a:solidFill>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3. What Was Applied, What Changed, and Why</a:t>
            </a:r>
            <a:endParaRPr lang="en-US" sz="2400" dirty="0"/>
          </a:p>
        </p:txBody>
      </p:sp>
      <p:sp>
        <p:nvSpPr>
          <p:cNvPr id="4" name="Shape 2"/>
          <p:cNvSpPr/>
          <p:nvPr/>
        </p:nvSpPr>
        <p:spPr>
          <a:xfrm>
            <a:off x="320040" y="960120"/>
            <a:ext cx="4160520" cy="3657600"/>
          </a:xfrm>
          <a:prstGeom prst="roundRect">
            <a:avLst>
              <a:gd name="adj" fmla="val 3000"/>
            </a:avLst>
          </a:prstGeom>
          <a:solidFill>
            <a:srgbClr val="FFFFFF"/>
          </a:solidFill>
          <a:ln/>
          <a:effectLst>
            <a:outerShdw sx="100000" sy="100000" kx="0" ky="0" algn="bl" rotWithShape="0" blurRad="76200" dist="25400" dir="2700000">
              <a:srgbClr val="000000">
                <a:alpha val="8000"/>
              </a:srgbClr>
            </a:outerShdw>
          </a:effectLst>
        </p:spPr>
      </p:sp>
      <p:sp>
        <p:nvSpPr>
          <p:cNvPr id="5" name="Shape 3"/>
          <p:cNvSpPr/>
          <p:nvPr/>
        </p:nvSpPr>
        <p:spPr>
          <a:xfrm>
            <a:off x="320040" y="960120"/>
            <a:ext cx="4160520" cy="502920"/>
          </a:xfrm>
          <a:prstGeom prst="ellipse">
            <a:avLst/>
          </a:prstGeom>
          <a:solidFill>
            <a:srgbClr val="10B981">
              <a:alpha val="90000"/>
            </a:srgbClr>
          </a:solidFill>
          <a:ln/>
        </p:spPr>
      </p:sp>
      <p:sp>
        <p:nvSpPr>
          <p:cNvPr id="6" name="Text 4"/>
          <p:cNvSpPr/>
          <p:nvPr/>
        </p:nvSpPr>
        <p:spPr>
          <a:xfrm>
            <a:off x="457200" y="960120"/>
            <a:ext cx="3886200" cy="5029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Successfully Applied</a:t>
            </a:r>
            <a:endParaRPr lang="en-US" sz="1300" dirty="0"/>
          </a:p>
        </p:txBody>
      </p:sp>
      <p:pic>
        <p:nvPicPr>
          <p:cNvPr id="7" name="Image 0" descr="preencoded.png">    </p:cNvPr>
          <p:cNvPicPr>
            <a:picLocks noChangeAspect="1"/>
          </p:cNvPicPr>
          <p:nvPr/>
        </p:nvPicPr>
        <p:blipFill>
          <a:blip r:embed="rId1"/>
          <a:stretch>
            <a:fillRect/>
          </a:stretch>
        </p:blipFill>
        <p:spPr>
          <a:xfrm>
            <a:off x="438912" y="1572768"/>
            <a:ext cx="256032" cy="256032"/>
          </a:xfrm>
          <a:prstGeom prst="rect">
            <a:avLst/>
          </a:prstGeom>
        </p:spPr>
      </p:pic>
      <p:sp>
        <p:nvSpPr>
          <p:cNvPr id="8" name="Text 5"/>
          <p:cNvSpPr/>
          <p:nvPr/>
        </p:nvSpPr>
        <p:spPr>
          <a:xfrm>
            <a:off x="768096" y="1572768"/>
            <a:ext cx="3566160" cy="25603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Full 4-stage KPN pipeline implemented</a:t>
            </a:r>
            <a:endParaRPr lang="en-US" sz="1100" dirty="0"/>
          </a:p>
        </p:txBody>
      </p:sp>
      <p:pic>
        <p:nvPicPr>
          <p:cNvPr id="9" name="Image 1" descr="preencoded.png">    </p:cNvPr>
          <p:cNvPicPr>
            <a:picLocks noChangeAspect="1"/>
          </p:cNvPicPr>
          <p:nvPr/>
        </p:nvPicPr>
        <p:blipFill>
          <a:blip r:embed="rId2"/>
          <a:stretch>
            <a:fillRect/>
          </a:stretch>
        </p:blipFill>
        <p:spPr>
          <a:xfrm>
            <a:off x="438912" y="1956816"/>
            <a:ext cx="256032" cy="256032"/>
          </a:xfrm>
          <a:prstGeom prst="rect">
            <a:avLst/>
          </a:prstGeom>
        </p:spPr>
      </p:pic>
      <p:sp>
        <p:nvSpPr>
          <p:cNvPr id="10" name="Text 6"/>
          <p:cNvSpPr/>
          <p:nvPr/>
        </p:nvSpPr>
        <p:spPr>
          <a:xfrm>
            <a:off x="768096" y="1956816"/>
            <a:ext cx="3566160" cy="25603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QEMU ARM64 boot + Python 3.10 env</a:t>
            </a:r>
            <a:endParaRPr lang="en-US" sz="1100" dirty="0"/>
          </a:p>
        </p:txBody>
      </p:sp>
      <p:pic>
        <p:nvPicPr>
          <p:cNvPr id="11" name="Image 2" descr="preencoded.png">    </p:cNvPr>
          <p:cNvPicPr>
            <a:picLocks noChangeAspect="1"/>
          </p:cNvPicPr>
          <p:nvPr/>
        </p:nvPicPr>
        <p:blipFill>
          <a:blip r:embed="rId3"/>
          <a:stretch>
            <a:fillRect/>
          </a:stretch>
        </p:blipFill>
        <p:spPr>
          <a:xfrm>
            <a:off x="438912" y="2340864"/>
            <a:ext cx="256032" cy="256032"/>
          </a:xfrm>
          <a:prstGeom prst="rect">
            <a:avLst/>
          </a:prstGeom>
        </p:spPr>
      </p:pic>
      <p:sp>
        <p:nvSpPr>
          <p:cNvPr id="12" name="Text 7"/>
          <p:cNvSpPr/>
          <p:nvPr/>
        </p:nvSpPr>
        <p:spPr>
          <a:xfrm>
            <a:off x="768096" y="2340864"/>
            <a:ext cx="3566160" cy="25603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Phi-3 Mini Q4_K_M via llama.cpp</a:t>
            </a:r>
            <a:endParaRPr lang="en-US" sz="1100" dirty="0"/>
          </a:p>
        </p:txBody>
      </p:sp>
      <p:pic>
        <p:nvPicPr>
          <p:cNvPr id="13" name="Image 3" descr="preencoded.png">    </p:cNvPr>
          <p:cNvPicPr>
            <a:picLocks noChangeAspect="1"/>
          </p:cNvPicPr>
          <p:nvPr/>
        </p:nvPicPr>
        <p:blipFill>
          <a:blip r:embed="rId4"/>
          <a:stretch>
            <a:fillRect/>
          </a:stretch>
        </p:blipFill>
        <p:spPr>
          <a:xfrm>
            <a:off x="438912" y="2724912"/>
            <a:ext cx="256032" cy="256032"/>
          </a:xfrm>
          <a:prstGeom prst="rect">
            <a:avLst/>
          </a:prstGeom>
        </p:spPr>
      </p:pic>
      <p:sp>
        <p:nvSpPr>
          <p:cNvPr id="14" name="Text 8"/>
          <p:cNvSpPr/>
          <p:nvPr/>
        </p:nvSpPr>
        <p:spPr>
          <a:xfrm>
            <a:off x="768096" y="2724912"/>
            <a:ext cx="3566160" cy="25603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FAISS flat L2 index retrieval</a:t>
            </a:r>
            <a:endParaRPr lang="en-US" sz="1100" dirty="0"/>
          </a:p>
        </p:txBody>
      </p:sp>
      <p:pic>
        <p:nvPicPr>
          <p:cNvPr id="15" name="Image 4" descr="preencoded.png">    </p:cNvPr>
          <p:cNvPicPr>
            <a:picLocks noChangeAspect="1"/>
          </p:cNvPicPr>
          <p:nvPr/>
        </p:nvPicPr>
        <p:blipFill>
          <a:blip r:embed="rId5"/>
          <a:stretch>
            <a:fillRect/>
          </a:stretch>
        </p:blipFill>
        <p:spPr>
          <a:xfrm>
            <a:off x="438912" y="3108960"/>
            <a:ext cx="256032" cy="256032"/>
          </a:xfrm>
          <a:prstGeom prst="rect">
            <a:avLst/>
          </a:prstGeom>
        </p:spPr>
      </p:pic>
      <p:sp>
        <p:nvSpPr>
          <p:cNvPr id="16" name="Text 9"/>
          <p:cNvSpPr/>
          <p:nvPr/>
        </p:nvSpPr>
        <p:spPr>
          <a:xfrm>
            <a:off x="768096" y="3108960"/>
            <a:ext cx="3566160" cy="25603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all-MiniLM-L6-v2 embeddings</a:t>
            </a:r>
            <a:endParaRPr lang="en-US" sz="1100" dirty="0"/>
          </a:p>
        </p:txBody>
      </p:sp>
      <p:pic>
        <p:nvPicPr>
          <p:cNvPr id="17" name="Image 5" descr="preencoded.png">    </p:cNvPr>
          <p:cNvPicPr>
            <a:picLocks noChangeAspect="1"/>
          </p:cNvPicPr>
          <p:nvPr/>
        </p:nvPicPr>
        <p:blipFill>
          <a:blip r:embed="rId6"/>
          <a:stretch>
            <a:fillRect/>
          </a:stretch>
        </p:blipFill>
        <p:spPr>
          <a:xfrm>
            <a:off x="438912" y="3493008"/>
            <a:ext cx="256032" cy="256032"/>
          </a:xfrm>
          <a:prstGeom prst="rect">
            <a:avLst/>
          </a:prstGeom>
        </p:spPr>
      </p:pic>
      <p:sp>
        <p:nvSpPr>
          <p:cNvPr id="18" name="Text 10"/>
          <p:cNvSpPr/>
          <p:nvPr/>
        </p:nvSpPr>
        <p:spPr>
          <a:xfrm>
            <a:off x="768096" y="3493008"/>
            <a:ext cx="3566160" cy="25603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gc.collect() memory isolation</a:t>
            </a:r>
            <a:endParaRPr lang="en-US" sz="1100" dirty="0"/>
          </a:p>
        </p:txBody>
      </p:sp>
      <p:pic>
        <p:nvPicPr>
          <p:cNvPr id="19" name="Image 6" descr="preencoded.png">    </p:cNvPr>
          <p:cNvPicPr>
            <a:picLocks noChangeAspect="1"/>
          </p:cNvPicPr>
          <p:nvPr/>
        </p:nvPicPr>
        <p:blipFill>
          <a:blip r:embed="rId7"/>
          <a:stretch>
            <a:fillRect/>
          </a:stretch>
        </p:blipFill>
        <p:spPr>
          <a:xfrm>
            <a:off x="438912" y="3877056"/>
            <a:ext cx="256032" cy="256032"/>
          </a:xfrm>
          <a:prstGeom prst="rect">
            <a:avLst/>
          </a:prstGeom>
        </p:spPr>
      </p:pic>
      <p:sp>
        <p:nvSpPr>
          <p:cNvPr id="20" name="Text 11"/>
          <p:cNvSpPr/>
          <p:nvPr/>
        </p:nvSpPr>
        <p:spPr>
          <a:xfrm>
            <a:off x="768096" y="3877056"/>
            <a:ext cx="3566160" cy="25603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psutil-based RAM monitoring</a:t>
            </a:r>
            <a:endParaRPr lang="en-US" sz="1100" dirty="0"/>
          </a:p>
        </p:txBody>
      </p:sp>
      <p:sp>
        <p:nvSpPr>
          <p:cNvPr id="21" name="Shape 12"/>
          <p:cNvSpPr/>
          <p:nvPr/>
        </p:nvSpPr>
        <p:spPr>
          <a:xfrm>
            <a:off x="4663440" y="960120"/>
            <a:ext cx="4160520" cy="3657600"/>
          </a:xfrm>
          <a:prstGeom prst="roundRect">
            <a:avLst>
              <a:gd name="adj" fmla="val 3000"/>
            </a:avLst>
          </a:prstGeom>
          <a:solidFill>
            <a:srgbClr val="FFFFFF"/>
          </a:solidFill>
          <a:ln/>
          <a:effectLst>
            <a:outerShdw sx="100000" sy="100000" kx="0" ky="0" algn="bl" rotWithShape="0" blurRad="76200" dist="25400" dir="2700000">
              <a:srgbClr val="000000">
                <a:alpha val="8000"/>
              </a:srgbClr>
            </a:outerShdw>
          </a:effectLst>
        </p:spPr>
      </p:sp>
      <p:sp>
        <p:nvSpPr>
          <p:cNvPr id="22" name="Shape 13"/>
          <p:cNvSpPr/>
          <p:nvPr/>
        </p:nvSpPr>
        <p:spPr>
          <a:xfrm>
            <a:off x="4663440" y="960120"/>
            <a:ext cx="4160520" cy="502920"/>
          </a:xfrm>
          <a:prstGeom prst="ellipse">
            <a:avLst/>
          </a:prstGeom>
          <a:solidFill>
            <a:srgbClr val="F59E0B">
              <a:alpha val="90000"/>
            </a:srgbClr>
          </a:solidFill>
          <a:ln/>
        </p:spPr>
      </p:sp>
      <p:sp>
        <p:nvSpPr>
          <p:cNvPr id="23" name="Text 14"/>
          <p:cNvSpPr/>
          <p:nvPr/>
        </p:nvSpPr>
        <p:spPr>
          <a:xfrm>
            <a:off x="4800600" y="960120"/>
            <a:ext cx="3886200" cy="5029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Changed / Deferred</a:t>
            </a:r>
            <a:endParaRPr lang="en-US" sz="1300" dirty="0"/>
          </a:p>
        </p:txBody>
      </p:sp>
      <p:pic>
        <p:nvPicPr>
          <p:cNvPr id="24" name="Image 7" descr="preencoded.png">    </p:cNvPr>
          <p:cNvPicPr>
            <a:picLocks noChangeAspect="1"/>
          </p:cNvPicPr>
          <p:nvPr/>
        </p:nvPicPr>
        <p:blipFill>
          <a:blip r:embed="rId8"/>
          <a:stretch>
            <a:fillRect/>
          </a:stretch>
        </p:blipFill>
        <p:spPr>
          <a:xfrm>
            <a:off x="4736592" y="1572768"/>
            <a:ext cx="256032" cy="256032"/>
          </a:xfrm>
          <a:prstGeom prst="rect">
            <a:avLst/>
          </a:prstGeom>
        </p:spPr>
      </p:pic>
      <p:sp>
        <p:nvSpPr>
          <p:cNvPr id="25" name="Text 15"/>
          <p:cNvSpPr/>
          <p:nvPr/>
        </p:nvSpPr>
        <p:spPr>
          <a:xfrm>
            <a:off x="5065776" y="1572768"/>
            <a:ext cx="4041648" cy="237744"/>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QEMU inference → host WSL2 eval</a:t>
            </a:r>
            <a:endParaRPr lang="en-US" sz="1100" dirty="0"/>
          </a:p>
        </p:txBody>
      </p:sp>
      <p:sp>
        <p:nvSpPr>
          <p:cNvPr id="26" name="Text 16"/>
          <p:cNvSpPr/>
          <p:nvPr/>
        </p:nvSpPr>
        <p:spPr>
          <a:xfrm>
            <a:off x="5065776" y="1792224"/>
            <a:ext cx="4041648" cy="201168"/>
          </a:xfrm>
          <a:prstGeom prst="rect">
            <a:avLst/>
          </a:prstGeom>
          <a:noFill/>
          <a:ln/>
        </p:spPr>
        <p:txBody>
          <a:bodyPr wrap="square" lIns="0" tIns="0" rIns="0" bIns="0" rtlCol="0" anchor="ctr"/>
          <a:lstStyle/>
          <a:p>
            <a:pPr indent="0" marL="0">
              <a:buNone/>
            </a:pPr>
            <a:r>
              <a:rPr lang="en-US" sz="950" i="1" dirty="0">
                <a:solidFill>
                  <a:srgbClr val="64748B"/>
                </a:solidFill>
                <a:latin typeface="Arial" pitchFamily="34" charset="0"/>
                <a:ea typeface="Arial" pitchFamily="34" charset="-122"/>
                <a:cs typeface="Arial" pitchFamily="34" charset="-120"/>
              </a:rPr>
              <a:t>50–100× overhead on ARM64 emulation</a:t>
            </a:r>
            <a:endParaRPr lang="en-US" sz="950" dirty="0"/>
          </a:p>
        </p:txBody>
      </p:sp>
      <p:pic>
        <p:nvPicPr>
          <p:cNvPr id="27" name="Image 8" descr="preencoded.png">    </p:cNvPr>
          <p:cNvPicPr>
            <a:picLocks noChangeAspect="1"/>
          </p:cNvPicPr>
          <p:nvPr/>
        </p:nvPicPr>
        <p:blipFill>
          <a:blip r:embed="rId9"/>
          <a:stretch>
            <a:fillRect/>
          </a:stretch>
        </p:blipFill>
        <p:spPr>
          <a:xfrm>
            <a:off x="4736592" y="2121408"/>
            <a:ext cx="256032" cy="256032"/>
          </a:xfrm>
          <a:prstGeom prst="rect">
            <a:avLst/>
          </a:prstGeom>
        </p:spPr>
      </p:pic>
      <p:sp>
        <p:nvSpPr>
          <p:cNvPr id="28" name="Text 17"/>
          <p:cNvSpPr/>
          <p:nvPr/>
        </p:nvSpPr>
        <p:spPr>
          <a:xfrm>
            <a:off x="5065776" y="2121408"/>
            <a:ext cx="4041648" cy="237744"/>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10 docs + 100 QA pairs → 1 ARM manual</a:t>
            </a:r>
            <a:endParaRPr lang="en-US" sz="1100" dirty="0"/>
          </a:p>
        </p:txBody>
      </p:sp>
      <p:sp>
        <p:nvSpPr>
          <p:cNvPr id="29" name="Text 18"/>
          <p:cNvSpPr/>
          <p:nvPr/>
        </p:nvSpPr>
        <p:spPr>
          <a:xfrm>
            <a:off x="5065776" y="2340864"/>
            <a:ext cx="4041648" cy="201168"/>
          </a:xfrm>
          <a:prstGeom prst="rect">
            <a:avLst/>
          </a:prstGeom>
          <a:noFill/>
          <a:ln/>
        </p:spPr>
        <p:txBody>
          <a:bodyPr wrap="square" lIns="0" tIns="0" rIns="0" bIns="0" rtlCol="0" anchor="ctr"/>
          <a:lstStyle/>
          <a:p>
            <a:pPr indent="0" marL="0">
              <a:buNone/>
            </a:pPr>
            <a:r>
              <a:rPr lang="en-US" sz="950" i="1" dirty="0">
                <a:solidFill>
                  <a:srgbClr val="64748B"/>
                </a:solidFill>
                <a:latin typeface="Arial" pitchFamily="34" charset="0"/>
                <a:ea typeface="Arial" pitchFamily="34" charset="-122"/>
                <a:cs typeface="Arial" pitchFamily="34" charset="-120"/>
              </a:rPr>
              <a:t>Time constraints; same domain coverage</a:t>
            </a:r>
            <a:endParaRPr lang="en-US" sz="950" dirty="0"/>
          </a:p>
        </p:txBody>
      </p:sp>
      <p:pic>
        <p:nvPicPr>
          <p:cNvPr id="30" name="Image 9" descr="preencoded.png">    </p:cNvPr>
          <p:cNvPicPr>
            <a:picLocks noChangeAspect="1"/>
          </p:cNvPicPr>
          <p:nvPr/>
        </p:nvPicPr>
        <p:blipFill>
          <a:blip r:embed="rId10"/>
          <a:stretch>
            <a:fillRect/>
          </a:stretch>
        </p:blipFill>
        <p:spPr>
          <a:xfrm>
            <a:off x="4736592" y="2670048"/>
            <a:ext cx="256032" cy="256032"/>
          </a:xfrm>
          <a:prstGeom prst="rect">
            <a:avLst/>
          </a:prstGeom>
        </p:spPr>
      </p:pic>
      <p:sp>
        <p:nvSpPr>
          <p:cNvPr id="31" name="Text 19"/>
          <p:cNvSpPr/>
          <p:nvPr/>
        </p:nvSpPr>
        <p:spPr>
          <a:xfrm>
            <a:off x="5065776" y="2670048"/>
            <a:ext cx="4041648" cy="237744"/>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Full PyTorch → CPU-only wheel</a:t>
            </a:r>
            <a:endParaRPr lang="en-US" sz="1100" dirty="0"/>
          </a:p>
        </p:txBody>
      </p:sp>
      <p:sp>
        <p:nvSpPr>
          <p:cNvPr id="32" name="Text 20"/>
          <p:cNvSpPr/>
          <p:nvPr/>
        </p:nvSpPr>
        <p:spPr>
          <a:xfrm>
            <a:off x="5065776" y="2889504"/>
            <a:ext cx="4041648" cy="201168"/>
          </a:xfrm>
          <a:prstGeom prst="rect">
            <a:avLst/>
          </a:prstGeom>
          <a:noFill/>
          <a:ln/>
        </p:spPr>
        <p:txBody>
          <a:bodyPr wrap="square" lIns="0" tIns="0" rIns="0" bIns="0" rtlCol="0" anchor="ctr"/>
          <a:lstStyle/>
          <a:p>
            <a:pPr indent="0" marL="0">
              <a:buNone/>
            </a:pPr>
            <a:r>
              <a:rPr lang="en-US" sz="950" i="1" dirty="0">
                <a:solidFill>
                  <a:srgbClr val="64748B"/>
                </a:solidFill>
                <a:latin typeface="Arial" pitchFamily="34" charset="0"/>
                <a:ea typeface="Arial" pitchFamily="34" charset="-122"/>
                <a:cs typeface="Arial" pitchFamily="34" charset="-120"/>
              </a:rPr>
              <a:t>CUDA libs inflated RAM to 4.5 GB</a:t>
            </a:r>
            <a:endParaRPr lang="en-US" sz="950" dirty="0"/>
          </a:p>
        </p:txBody>
      </p:sp>
      <p:pic>
        <p:nvPicPr>
          <p:cNvPr id="33" name="Image 10" descr="preencoded.png">    </p:cNvPr>
          <p:cNvPicPr>
            <a:picLocks noChangeAspect="1"/>
          </p:cNvPicPr>
          <p:nvPr/>
        </p:nvPicPr>
        <p:blipFill>
          <a:blip r:embed="rId11"/>
          <a:stretch>
            <a:fillRect/>
          </a:stretch>
        </p:blipFill>
        <p:spPr>
          <a:xfrm>
            <a:off x="4736592" y="3218688"/>
            <a:ext cx="256032" cy="256032"/>
          </a:xfrm>
          <a:prstGeom prst="rect">
            <a:avLst/>
          </a:prstGeom>
        </p:spPr>
      </p:pic>
      <p:sp>
        <p:nvSpPr>
          <p:cNvPr id="34" name="Text 21"/>
          <p:cNvSpPr/>
          <p:nvPr/>
        </p:nvSpPr>
        <p:spPr>
          <a:xfrm>
            <a:off x="5065776" y="3218688"/>
            <a:ext cx="4041648" cy="237744"/>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n_threads 2 (QEMU) → os.cpu_count()</a:t>
            </a:r>
            <a:endParaRPr lang="en-US" sz="1100" dirty="0"/>
          </a:p>
        </p:txBody>
      </p:sp>
      <p:sp>
        <p:nvSpPr>
          <p:cNvPr id="35" name="Text 22"/>
          <p:cNvSpPr/>
          <p:nvPr/>
        </p:nvSpPr>
        <p:spPr>
          <a:xfrm>
            <a:off x="5065776" y="3438144"/>
            <a:ext cx="4041648" cy="201168"/>
          </a:xfrm>
          <a:prstGeom prst="rect">
            <a:avLst/>
          </a:prstGeom>
          <a:noFill/>
          <a:ln/>
        </p:spPr>
        <p:txBody>
          <a:bodyPr wrap="square" lIns="0" tIns="0" rIns="0" bIns="0" rtlCol="0" anchor="ctr"/>
          <a:lstStyle/>
          <a:p>
            <a:pPr indent="0" marL="0">
              <a:buNone/>
            </a:pPr>
            <a:r>
              <a:rPr lang="en-US" sz="950" i="1" dirty="0">
                <a:solidFill>
                  <a:srgbClr val="64748B"/>
                </a:solidFill>
                <a:latin typeface="Arial" pitchFamily="34" charset="0"/>
                <a:ea typeface="Arial" pitchFamily="34" charset="-122"/>
                <a:cs typeface="Arial" pitchFamily="34" charset="-120"/>
              </a:rPr>
              <a:t>Host eval uses all available cores</a:t>
            </a:r>
            <a:endParaRPr lang="en-US" sz="950" dirty="0"/>
          </a:p>
        </p:txBody>
      </p:sp>
      <p:pic>
        <p:nvPicPr>
          <p:cNvPr id="36" name="Image 11" descr="preencoded.png">    </p:cNvPr>
          <p:cNvPicPr>
            <a:picLocks noChangeAspect="1"/>
          </p:cNvPicPr>
          <p:nvPr/>
        </p:nvPicPr>
        <p:blipFill>
          <a:blip r:embed="rId12"/>
          <a:stretch>
            <a:fillRect/>
          </a:stretch>
        </p:blipFill>
        <p:spPr>
          <a:xfrm>
            <a:off x="4736592" y="3767328"/>
            <a:ext cx="256032" cy="256032"/>
          </a:xfrm>
          <a:prstGeom prst="rect">
            <a:avLst/>
          </a:prstGeom>
        </p:spPr>
      </p:pic>
      <p:sp>
        <p:nvSpPr>
          <p:cNvPr id="37" name="Text 23"/>
          <p:cNvSpPr/>
          <p:nvPr/>
        </p:nvSpPr>
        <p:spPr>
          <a:xfrm>
            <a:off x="5065776" y="3767328"/>
            <a:ext cx="4041648" cy="237744"/>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F1 / Recall@k → deferred</a:t>
            </a:r>
            <a:endParaRPr lang="en-US" sz="1100" dirty="0"/>
          </a:p>
        </p:txBody>
      </p:sp>
      <p:sp>
        <p:nvSpPr>
          <p:cNvPr id="38" name="Text 24"/>
          <p:cNvSpPr/>
          <p:nvPr/>
        </p:nvSpPr>
        <p:spPr>
          <a:xfrm>
            <a:off x="5065776" y="3986784"/>
            <a:ext cx="4041648" cy="201168"/>
          </a:xfrm>
          <a:prstGeom prst="rect">
            <a:avLst/>
          </a:prstGeom>
          <a:noFill/>
          <a:ln/>
        </p:spPr>
        <p:txBody>
          <a:bodyPr wrap="square" lIns="0" tIns="0" rIns="0" bIns="0" rtlCol="0" anchor="ctr"/>
          <a:lstStyle/>
          <a:p>
            <a:pPr indent="0" marL="0">
              <a:buNone/>
            </a:pPr>
            <a:r>
              <a:rPr lang="en-US" sz="950" i="1" dirty="0">
                <a:solidFill>
                  <a:srgbClr val="64748B"/>
                </a:solidFill>
                <a:latin typeface="Arial" pitchFamily="34" charset="0"/>
                <a:ea typeface="Arial" pitchFamily="34" charset="-122"/>
                <a:cs typeface="Arial" pitchFamily="34" charset="-120"/>
              </a:rPr>
              <a:t>No ground-truth annotations available</a:t>
            </a:r>
            <a:endParaRPr lang="en-US" sz="950" dirty="0"/>
          </a:p>
        </p:txBody>
      </p:sp>
      <p:sp>
        <p:nvSpPr>
          <p:cNvPr id="39" name="Text 25"/>
          <p:cNvSpPr/>
          <p:nvPr/>
        </p:nvSpPr>
        <p:spPr>
          <a:xfrm>
            <a:off x="274320" y="4846320"/>
            <a:ext cx="8595360" cy="274320"/>
          </a:xfrm>
          <a:prstGeom prst="rect">
            <a:avLst/>
          </a:prstGeom>
          <a:noFill/>
          <a:ln/>
        </p:spPr>
        <p:txBody>
          <a:bodyPr wrap="square"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EdgeRAG  |  CMP720 Spring 2026  |  Hüseyin Eren Doğan  |  </a:t>
            </a:r>
            <a:pPr algn="ctr" indent="0" marL="0">
              <a:buNone/>
            </a:pPr>
            <a:r>
              <a:rPr lang="en-US" sz="900" b="1" dirty="0">
                <a:solidFill>
                  <a:srgbClr val="00B4D8"/>
                </a:solidFill>
                <a:latin typeface="Arial" pitchFamily="34" charset="0"/>
                <a:ea typeface="Arial" pitchFamily="34" charset="-122"/>
                <a:cs typeface="Arial" pitchFamily="34" charset="-120"/>
              </a:rPr>
              <a:t>Changes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A5F"/>
          </a:solidFill>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4. Results</a:t>
            </a:r>
            <a:endParaRPr lang="en-US" sz="2400" dirty="0"/>
          </a:p>
        </p:txBody>
      </p:sp>
      <p:sp>
        <p:nvSpPr>
          <p:cNvPr id="4" name="Shape 2"/>
          <p:cNvSpPr/>
          <p:nvPr/>
        </p:nvSpPr>
        <p:spPr>
          <a:xfrm>
            <a:off x="228600" y="914400"/>
            <a:ext cx="1627632" cy="1572768"/>
          </a:xfrm>
          <a:prstGeom prst="roundRect">
            <a:avLst>
              <a:gd name="adj" fmla="val 6977"/>
            </a:avLst>
          </a:prstGeom>
          <a:solidFill>
            <a:srgbClr val="FFFFFF"/>
          </a:solidFill>
          <a:ln/>
          <a:effectLst>
            <a:outerShdw sx="100000" sy="100000" kx="0" ky="0" algn="bl" rotWithShape="0" blurRad="101600" dist="25400" dir="27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365760" y="1024128"/>
            <a:ext cx="347472" cy="347472"/>
          </a:xfrm>
          <a:prstGeom prst="rect">
            <a:avLst/>
          </a:prstGeom>
        </p:spPr>
      </p:pic>
      <p:sp>
        <p:nvSpPr>
          <p:cNvPr id="6" name="Text 3"/>
          <p:cNvSpPr/>
          <p:nvPr/>
        </p:nvSpPr>
        <p:spPr>
          <a:xfrm>
            <a:off x="301752" y="1408176"/>
            <a:ext cx="1481328" cy="566928"/>
          </a:xfrm>
          <a:prstGeom prst="rect">
            <a:avLst/>
          </a:prstGeom>
          <a:noFill/>
          <a:ln/>
        </p:spPr>
        <p:txBody>
          <a:bodyPr wrap="square" lIns="0" tIns="0" rIns="0" bIns="0" rtlCol="0" anchor="ctr"/>
          <a:lstStyle/>
          <a:p>
            <a:pPr algn="ctr" indent="0" marL="0">
              <a:buNone/>
            </a:pPr>
            <a:r>
              <a:rPr lang="en-US" sz="2800" b="1" dirty="0">
                <a:solidFill>
                  <a:srgbClr val="10B981"/>
                </a:solidFill>
                <a:latin typeface="Arial" pitchFamily="34" charset="0"/>
                <a:ea typeface="Arial" pitchFamily="34" charset="-122"/>
                <a:cs typeface="Arial" pitchFamily="34" charset="-120"/>
              </a:rPr>
              <a:t>100%</a:t>
            </a:r>
            <a:endParaRPr lang="en-US" sz="2800" dirty="0"/>
          </a:p>
        </p:txBody>
      </p:sp>
      <p:sp>
        <p:nvSpPr>
          <p:cNvPr id="7" name="Text 4"/>
          <p:cNvSpPr/>
          <p:nvPr/>
        </p:nvSpPr>
        <p:spPr>
          <a:xfrm>
            <a:off x="301752" y="1938528"/>
            <a:ext cx="1481328" cy="201168"/>
          </a:xfrm>
          <a:prstGeom prst="rect">
            <a:avLst/>
          </a:prstGeom>
          <a:noFill/>
          <a:ln/>
        </p:spPr>
        <p:txBody>
          <a:bodyPr wrap="square" lIns="0" tIns="0" rIns="0" bIns="0"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5 / 5 queries</a:t>
            </a:r>
            <a:endParaRPr lang="en-US" sz="900" dirty="0"/>
          </a:p>
        </p:txBody>
      </p:sp>
      <p:sp>
        <p:nvSpPr>
          <p:cNvPr id="8" name="Text 5"/>
          <p:cNvSpPr/>
          <p:nvPr/>
        </p:nvSpPr>
        <p:spPr>
          <a:xfrm>
            <a:off x="301752" y="2121408"/>
            <a:ext cx="1481328" cy="219456"/>
          </a:xfrm>
          <a:prstGeom prst="rect">
            <a:avLst/>
          </a:prstGeom>
          <a:noFill/>
          <a:ln/>
        </p:spPr>
        <p:txBody>
          <a:bodyPr wrap="square" lIns="0" tIns="0" rIns="0" bIns="0" rtlCol="0" anchor="ctr"/>
          <a:lstStyle/>
          <a:p>
            <a:pPr algn="ctr" indent="0" marL="0">
              <a:buNone/>
            </a:pPr>
            <a:r>
              <a:rPr lang="en-US" sz="900" b="1" dirty="0">
                <a:solidFill>
                  <a:srgbClr val="1F3A5F"/>
                </a:solidFill>
                <a:latin typeface="Arial" pitchFamily="34" charset="0"/>
                <a:ea typeface="Arial" pitchFamily="34" charset="-122"/>
                <a:cs typeface="Arial" pitchFamily="34" charset="-120"/>
              </a:rPr>
              <a:t>Query Completion</a:t>
            </a:r>
            <a:endParaRPr lang="en-US" sz="900" dirty="0"/>
          </a:p>
        </p:txBody>
      </p:sp>
      <p:sp>
        <p:nvSpPr>
          <p:cNvPr id="9" name="Shape 6"/>
          <p:cNvSpPr/>
          <p:nvPr/>
        </p:nvSpPr>
        <p:spPr>
          <a:xfrm>
            <a:off x="1984248" y="914400"/>
            <a:ext cx="1627632" cy="1572768"/>
          </a:xfrm>
          <a:prstGeom prst="roundRect">
            <a:avLst>
              <a:gd name="adj" fmla="val 6977"/>
            </a:avLst>
          </a:prstGeom>
          <a:solidFill>
            <a:srgbClr val="FFFFFF"/>
          </a:solidFill>
          <a:ln/>
          <a:effectLst>
            <a:outerShdw sx="100000" sy="100000" kx="0" ky="0" algn="bl" rotWithShape="0" blurRad="101600" dist="25400" dir="2700000">
              <a:srgbClr val="000000">
                <a:alpha val="10000"/>
              </a:srgbClr>
            </a:outerShdw>
          </a:effectLst>
        </p:spPr>
      </p:sp>
      <p:pic>
        <p:nvPicPr>
          <p:cNvPr id="10" name="Image 1" descr="preencoded.png">    </p:cNvPr>
          <p:cNvPicPr>
            <a:picLocks noChangeAspect="1"/>
          </p:cNvPicPr>
          <p:nvPr/>
        </p:nvPicPr>
        <p:blipFill>
          <a:blip r:embed="rId2"/>
          <a:stretch>
            <a:fillRect/>
          </a:stretch>
        </p:blipFill>
        <p:spPr>
          <a:xfrm>
            <a:off x="2121408" y="1024128"/>
            <a:ext cx="347472" cy="347472"/>
          </a:xfrm>
          <a:prstGeom prst="rect">
            <a:avLst/>
          </a:prstGeom>
        </p:spPr>
      </p:pic>
      <p:sp>
        <p:nvSpPr>
          <p:cNvPr id="11" name="Text 7"/>
          <p:cNvSpPr/>
          <p:nvPr/>
        </p:nvSpPr>
        <p:spPr>
          <a:xfrm>
            <a:off x="2057400" y="1408176"/>
            <a:ext cx="1481328" cy="566928"/>
          </a:xfrm>
          <a:prstGeom prst="rect">
            <a:avLst/>
          </a:prstGeom>
          <a:noFill/>
          <a:ln/>
        </p:spPr>
        <p:txBody>
          <a:bodyPr wrap="square" lIns="0" tIns="0" rIns="0" bIns="0" rtlCol="0" anchor="ctr"/>
          <a:lstStyle/>
          <a:p>
            <a:pPr algn="ctr" indent="0" marL="0">
              <a:buNone/>
            </a:pPr>
            <a:r>
              <a:rPr lang="en-US" sz="2800" b="1" dirty="0">
                <a:solidFill>
                  <a:srgbClr val="2E75B6"/>
                </a:solidFill>
                <a:latin typeface="Arial" pitchFamily="34" charset="0"/>
                <a:ea typeface="Arial" pitchFamily="34" charset="-122"/>
                <a:cs typeface="Arial" pitchFamily="34" charset="-120"/>
              </a:rPr>
              <a:t>58.6s</a:t>
            </a:r>
            <a:endParaRPr lang="en-US" sz="2800" dirty="0"/>
          </a:p>
        </p:txBody>
      </p:sp>
      <p:sp>
        <p:nvSpPr>
          <p:cNvPr id="12" name="Text 8"/>
          <p:cNvSpPr/>
          <p:nvPr/>
        </p:nvSpPr>
        <p:spPr>
          <a:xfrm>
            <a:off x="2057400" y="1938528"/>
            <a:ext cx="1481328" cy="201168"/>
          </a:xfrm>
          <a:prstGeom prst="rect">
            <a:avLst/>
          </a:prstGeom>
          <a:noFill/>
          <a:ln/>
        </p:spPr>
        <p:txBody>
          <a:bodyPr wrap="square" lIns="0" tIns="0" rIns="0" bIns="0"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target ≤ 60 s</a:t>
            </a:r>
            <a:endParaRPr lang="en-US" sz="900" dirty="0"/>
          </a:p>
        </p:txBody>
      </p:sp>
      <p:sp>
        <p:nvSpPr>
          <p:cNvPr id="13" name="Text 9"/>
          <p:cNvSpPr/>
          <p:nvPr/>
        </p:nvSpPr>
        <p:spPr>
          <a:xfrm>
            <a:off x="2057400" y="2121408"/>
            <a:ext cx="1481328" cy="219456"/>
          </a:xfrm>
          <a:prstGeom prst="rect">
            <a:avLst/>
          </a:prstGeom>
          <a:noFill/>
          <a:ln/>
        </p:spPr>
        <p:txBody>
          <a:bodyPr wrap="square" lIns="0" tIns="0" rIns="0" bIns="0" rtlCol="0" anchor="ctr"/>
          <a:lstStyle/>
          <a:p>
            <a:pPr algn="ctr" indent="0" marL="0">
              <a:buNone/>
            </a:pPr>
            <a:r>
              <a:rPr lang="en-US" sz="900" b="1" dirty="0">
                <a:solidFill>
                  <a:srgbClr val="1F3A5F"/>
                </a:solidFill>
                <a:latin typeface="Arial" pitchFamily="34" charset="0"/>
                <a:ea typeface="Arial" pitchFamily="34" charset="-122"/>
                <a:cs typeface="Arial" pitchFamily="34" charset="-120"/>
              </a:rPr>
              <a:t>Avg. Latency</a:t>
            </a:r>
            <a:endParaRPr lang="en-US" sz="900" dirty="0"/>
          </a:p>
        </p:txBody>
      </p:sp>
      <p:sp>
        <p:nvSpPr>
          <p:cNvPr id="14" name="Shape 10"/>
          <p:cNvSpPr/>
          <p:nvPr/>
        </p:nvSpPr>
        <p:spPr>
          <a:xfrm>
            <a:off x="3739896" y="914400"/>
            <a:ext cx="1627632" cy="1572768"/>
          </a:xfrm>
          <a:prstGeom prst="roundRect">
            <a:avLst>
              <a:gd name="adj" fmla="val 6977"/>
            </a:avLst>
          </a:prstGeom>
          <a:solidFill>
            <a:srgbClr val="FFFFFF"/>
          </a:solidFill>
          <a:ln/>
          <a:effectLst>
            <a:outerShdw sx="100000" sy="100000" kx="0" ky="0" algn="bl" rotWithShape="0" blurRad="101600" dist="25400" dir="2700000">
              <a:srgbClr val="000000">
                <a:alpha val="10000"/>
              </a:srgbClr>
            </a:outerShdw>
          </a:effectLst>
        </p:spPr>
      </p:sp>
      <p:pic>
        <p:nvPicPr>
          <p:cNvPr id="15" name="Image 2" descr="preencoded.png">    </p:cNvPr>
          <p:cNvPicPr>
            <a:picLocks noChangeAspect="1"/>
          </p:cNvPicPr>
          <p:nvPr/>
        </p:nvPicPr>
        <p:blipFill>
          <a:blip r:embed="rId3"/>
          <a:stretch>
            <a:fillRect/>
          </a:stretch>
        </p:blipFill>
        <p:spPr>
          <a:xfrm>
            <a:off x="3877056" y="1024128"/>
            <a:ext cx="347472" cy="347472"/>
          </a:xfrm>
          <a:prstGeom prst="rect">
            <a:avLst/>
          </a:prstGeom>
        </p:spPr>
      </p:pic>
      <p:sp>
        <p:nvSpPr>
          <p:cNvPr id="16" name="Text 11"/>
          <p:cNvSpPr/>
          <p:nvPr/>
        </p:nvSpPr>
        <p:spPr>
          <a:xfrm>
            <a:off x="3813048" y="1408176"/>
            <a:ext cx="1481328" cy="566928"/>
          </a:xfrm>
          <a:prstGeom prst="rect">
            <a:avLst/>
          </a:prstGeom>
          <a:noFill/>
          <a:ln/>
        </p:spPr>
        <p:txBody>
          <a:bodyPr wrap="square" lIns="0" tIns="0" rIns="0" bIns="0" rtlCol="0" anchor="ctr"/>
          <a:lstStyle/>
          <a:p>
            <a:pPr algn="ctr" indent="0" marL="0">
              <a:buNone/>
            </a:pPr>
            <a:r>
              <a:rPr lang="en-US" sz="2800" b="1" dirty="0">
                <a:solidFill>
                  <a:srgbClr val="1F3A5F"/>
                </a:solidFill>
                <a:latin typeface="Arial" pitchFamily="34" charset="0"/>
                <a:ea typeface="Arial" pitchFamily="34" charset="-122"/>
                <a:cs typeface="Arial" pitchFamily="34" charset="-120"/>
              </a:rPr>
              <a:t>2.92</a:t>
            </a:r>
            <a:endParaRPr lang="en-US" sz="2800" dirty="0"/>
          </a:p>
        </p:txBody>
      </p:sp>
      <p:sp>
        <p:nvSpPr>
          <p:cNvPr id="17" name="Text 12"/>
          <p:cNvSpPr/>
          <p:nvPr/>
        </p:nvSpPr>
        <p:spPr>
          <a:xfrm>
            <a:off x="3813048" y="1938528"/>
            <a:ext cx="1481328" cy="201168"/>
          </a:xfrm>
          <a:prstGeom prst="rect">
            <a:avLst/>
          </a:prstGeom>
          <a:noFill/>
          <a:ln/>
        </p:spPr>
        <p:txBody>
          <a:bodyPr wrap="square" lIns="0" tIns="0" rIns="0" bIns="0"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t/s  (target ≥ 0.5)</a:t>
            </a:r>
            <a:endParaRPr lang="en-US" sz="900" dirty="0"/>
          </a:p>
        </p:txBody>
      </p:sp>
      <p:sp>
        <p:nvSpPr>
          <p:cNvPr id="18" name="Text 13"/>
          <p:cNvSpPr/>
          <p:nvPr/>
        </p:nvSpPr>
        <p:spPr>
          <a:xfrm>
            <a:off x="3813048" y="2121408"/>
            <a:ext cx="1481328" cy="219456"/>
          </a:xfrm>
          <a:prstGeom prst="rect">
            <a:avLst/>
          </a:prstGeom>
          <a:noFill/>
          <a:ln/>
        </p:spPr>
        <p:txBody>
          <a:bodyPr wrap="square" lIns="0" tIns="0" rIns="0" bIns="0" rtlCol="0" anchor="ctr"/>
          <a:lstStyle/>
          <a:p>
            <a:pPr algn="ctr" indent="0" marL="0">
              <a:buNone/>
            </a:pPr>
            <a:r>
              <a:rPr lang="en-US" sz="900" b="1" dirty="0">
                <a:solidFill>
                  <a:srgbClr val="1F3A5F"/>
                </a:solidFill>
                <a:latin typeface="Arial" pitchFamily="34" charset="0"/>
                <a:ea typeface="Arial" pitchFamily="34" charset="-122"/>
                <a:cs typeface="Arial" pitchFamily="34" charset="-120"/>
              </a:rPr>
              <a:t>Token Speed</a:t>
            </a:r>
            <a:endParaRPr lang="en-US" sz="900" dirty="0"/>
          </a:p>
        </p:txBody>
      </p:sp>
      <p:sp>
        <p:nvSpPr>
          <p:cNvPr id="19" name="Shape 14"/>
          <p:cNvSpPr/>
          <p:nvPr/>
        </p:nvSpPr>
        <p:spPr>
          <a:xfrm>
            <a:off x="5495544" y="914400"/>
            <a:ext cx="1627632" cy="1572768"/>
          </a:xfrm>
          <a:prstGeom prst="roundRect">
            <a:avLst>
              <a:gd name="adj" fmla="val 6977"/>
            </a:avLst>
          </a:prstGeom>
          <a:solidFill>
            <a:srgbClr val="FFFFFF"/>
          </a:solidFill>
          <a:ln/>
          <a:effectLst>
            <a:outerShdw sx="100000" sy="100000" kx="0" ky="0" algn="bl" rotWithShape="0" blurRad="101600" dist="25400" dir="2700000">
              <a:srgbClr val="000000">
                <a:alpha val="10000"/>
              </a:srgbClr>
            </a:outerShdw>
          </a:effectLst>
        </p:spPr>
      </p:sp>
      <p:pic>
        <p:nvPicPr>
          <p:cNvPr id="20" name="Image 3" descr="preencoded.png">    </p:cNvPr>
          <p:cNvPicPr>
            <a:picLocks noChangeAspect="1"/>
          </p:cNvPicPr>
          <p:nvPr/>
        </p:nvPicPr>
        <p:blipFill>
          <a:blip r:embed="rId4"/>
          <a:stretch>
            <a:fillRect/>
          </a:stretch>
        </p:blipFill>
        <p:spPr>
          <a:xfrm>
            <a:off x="5632704" y="1024128"/>
            <a:ext cx="347472" cy="347472"/>
          </a:xfrm>
          <a:prstGeom prst="rect">
            <a:avLst/>
          </a:prstGeom>
        </p:spPr>
      </p:pic>
      <p:sp>
        <p:nvSpPr>
          <p:cNvPr id="21" name="Text 15"/>
          <p:cNvSpPr/>
          <p:nvPr/>
        </p:nvSpPr>
        <p:spPr>
          <a:xfrm>
            <a:off x="5568696" y="1408176"/>
            <a:ext cx="1481328" cy="566928"/>
          </a:xfrm>
          <a:prstGeom prst="rect">
            <a:avLst/>
          </a:prstGeom>
          <a:noFill/>
          <a:ln/>
        </p:spPr>
        <p:txBody>
          <a:bodyPr wrap="square" lIns="0" tIns="0" rIns="0" bIns="0" rtlCol="0" anchor="ctr"/>
          <a:lstStyle/>
          <a:p>
            <a:pPr algn="ctr" indent="0" marL="0">
              <a:buNone/>
            </a:pPr>
            <a:r>
              <a:rPr lang="en-US" sz="2800" b="1" dirty="0">
                <a:solidFill>
                  <a:srgbClr val="00B4D8"/>
                </a:solidFill>
                <a:latin typeface="Arial" pitchFamily="34" charset="0"/>
                <a:ea typeface="Arial" pitchFamily="34" charset="-122"/>
                <a:cs typeface="Arial" pitchFamily="34" charset="-120"/>
              </a:rPr>
              <a:t>729</a:t>
            </a:r>
            <a:endParaRPr lang="en-US" sz="2800" dirty="0"/>
          </a:p>
        </p:txBody>
      </p:sp>
      <p:sp>
        <p:nvSpPr>
          <p:cNvPr id="22" name="Text 16"/>
          <p:cNvSpPr/>
          <p:nvPr/>
        </p:nvSpPr>
        <p:spPr>
          <a:xfrm>
            <a:off x="5568696" y="1938528"/>
            <a:ext cx="1481328" cy="201168"/>
          </a:xfrm>
          <a:prstGeom prst="rect">
            <a:avLst/>
          </a:prstGeom>
          <a:noFill/>
          <a:ln/>
        </p:spPr>
        <p:txBody>
          <a:bodyPr wrap="square" lIns="0" tIns="0" rIns="0" bIns="0"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MB  (budget 1800 MB)</a:t>
            </a:r>
            <a:endParaRPr lang="en-US" sz="900" dirty="0"/>
          </a:p>
        </p:txBody>
      </p:sp>
      <p:sp>
        <p:nvSpPr>
          <p:cNvPr id="23" name="Text 17"/>
          <p:cNvSpPr/>
          <p:nvPr/>
        </p:nvSpPr>
        <p:spPr>
          <a:xfrm>
            <a:off x="5568696" y="2121408"/>
            <a:ext cx="1481328" cy="219456"/>
          </a:xfrm>
          <a:prstGeom prst="rect">
            <a:avLst/>
          </a:prstGeom>
          <a:noFill/>
          <a:ln/>
        </p:spPr>
        <p:txBody>
          <a:bodyPr wrap="square" lIns="0" tIns="0" rIns="0" bIns="0" rtlCol="0" anchor="ctr"/>
          <a:lstStyle/>
          <a:p>
            <a:pPr algn="ctr" indent="0" marL="0">
              <a:buNone/>
            </a:pPr>
            <a:r>
              <a:rPr lang="en-US" sz="900" b="1" dirty="0">
                <a:solidFill>
                  <a:srgbClr val="1F3A5F"/>
                </a:solidFill>
                <a:latin typeface="Arial" pitchFamily="34" charset="0"/>
                <a:ea typeface="Arial" pitchFamily="34" charset="-122"/>
                <a:cs typeface="Arial" pitchFamily="34" charset="-120"/>
              </a:rPr>
              <a:t>Peak RAM</a:t>
            </a:r>
            <a:endParaRPr lang="en-US" sz="900" dirty="0"/>
          </a:p>
        </p:txBody>
      </p:sp>
      <p:sp>
        <p:nvSpPr>
          <p:cNvPr id="24" name="Shape 18"/>
          <p:cNvSpPr/>
          <p:nvPr/>
        </p:nvSpPr>
        <p:spPr>
          <a:xfrm>
            <a:off x="7251192" y="914400"/>
            <a:ext cx="1627632" cy="1572768"/>
          </a:xfrm>
          <a:prstGeom prst="roundRect">
            <a:avLst>
              <a:gd name="adj" fmla="val 6977"/>
            </a:avLst>
          </a:prstGeom>
          <a:solidFill>
            <a:srgbClr val="FFFFFF"/>
          </a:solidFill>
          <a:ln/>
          <a:effectLst>
            <a:outerShdw sx="100000" sy="100000" kx="0" ky="0" algn="bl" rotWithShape="0" blurRad="101600" dist="25400" dir="2700000">
              <a:srgbClr val="000000">
                <a:alpha val="10000"/>
              </a:srgbClr>
            </a:outerShdw>
          </a:effectLst>
        </p:spPr>
      </p:sp>
      <p:pic>
        <p:nvPicPr>
          <p:cNvPr id="25" name="Image 4" descr="preencoded.png">    </p:cNvPr>
          <p:cNvPicPr>
            <a:picLocks noChangeAspect="1"/>
          </p:cNvPicPr>
          <p:nvPr/>
        </p:nvPicPr>
        <p:blipFill>
          <a:blip r:embed="rId5"/>
          <a:stretch>
            <a:fillRect/>
          </a:stretch>
        </p:blipFill>
        <p:spPr>
          <a:xfrm>
            <a:off x="7388352" y="1024128"/>
            <a:ext cx="347472" cy="347472"/>
          </a:xfrm>
          <a:prstGeom prst="rect">
            <a:avLst/>
          </a:prstGeom>
        </p:spPr>
      </p:pic>
      <p:sp>
        <p:nvSpPr>
          <p:cNvPr id="26" name="Text 19"/>
          <p:cNvSpPr/>
          <p:nvPr/>
        </p:nvSpPr>
        <p:spPr>
          <a:xfrm>
            <a:off x="7324344" y="1408176"/>
            <a:ext cx="1481328" cy="566928"/>
          </a:xfrm>
          <a:prstGeom prst="rect">
            <a:avLst/>
          </a:prstGeom>
          <a:noFill/>
          <a:ln/>
        </p:spPr>
        <p:txBody>
          <a:bodyPr wrap="square" lIns="0" tIns="0" rIns="0" bIns="0" rtlCol="0" anchor="ctr"/>
          <a:lstStyle/>
          <a:p>
            <a:pPr algn="ctr" indent="0" marL="0">
              <a:buNone/>
            </a:pPr>
            <a:r>
              <a:rPr lang="en-US" sz="2800" b="1" dirty="0">
                <a:solidFill>
                  <a:srgbClr val="10B981"/>
                </a:solidFill>
                <a:latin typeface="Arial" pitchFamily="34" charset="0"/>
                <a:ea typeface="Arial" pitchFamily="34" charset="-122"/>
                <a:cs typeface="Arial" pitchFamily="34" charset="-120"/>
              </a:rPr>
              <a:t>0%</a:t>
            </a:r>
            <a:endParaRPr lang="en-US" sz="2800" dirty="0"/>
          </a:p>
        </p:txBody>
      </p:sp>
      <p:sp>
        <p:nvSpPr>
          <p:cNvPr id="27" name="Text 20"/>
          <p:cNvSpPr/>
          <p:nvPr/>
        </p:nvSpPr>
        <p:spPr>
          <a:xfrm>
            <a:off x="7324344" y="1938528"/>
            <a:ext cx="1481328" cy="201168"/>
          </a:xfrm>
          <a:prstGeom prst="rect">
            <a:avLst/>
          </a:prstGeom>
          <a:noFill/>
          <a:ln/>
        </p:spPr>
        <p:txBody>
          <a:bodyPr wrap="square" lIns="0" tIns="0" rIns="0" bIns="0"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0 / 5 queries</a:t>
            </a:r>
            <a:endParaRPr lang="en-US" sz="900" dirty="0"/>
          </a:p>
        </p:txBody>
      </p:sp>
      <p:sp>
        <p:nvSpPr>
          <p:cNvPr id="28" name="Text 21"/>
          <p:cNvSpPr/>
          <p:nvPr/>
        </p:nvSpPr>
        <p:spPr>
          <a:xfrm>
            <a:off x="7324344" y="2121408"/>
            <a:ext cx="1481328" cy="219456"/>
          </a:xfrm>
          <a:prstGeom prst="rect">
            <a:avLst/>
          </a:prstGeom>
          <a:noFill/>
          <a:ln/>
        </p:spPr>
        <p:txBody>
          <a:bodyPr wrap="square" lIns="0" tIns="0" rIns="0" bIns="0" rtlCol="0" anchor="ctr"/>
          <a:lstStyle/>
          <a:p>
            <a:pPr algn="ctr" indent="0" marL="0">
              <a:buNone/>
            </a:pPr>
            <a:r>
              <a:rPr lang="en-US" sz="900" b="1" dirty="0">
                <a:solidFill>
                  <a:srgbClr val="1F3A5F"/>
                </a:solidFill>
                <a:latin typeface="Arial" pitchFamily="34" charset="0"/>
                <a:ea typeface="Arial" pitchFamily="34" charset="-122"/>
                <a:cs typeface="Arial" pitchFamily="34" charset="-120"/>
              </a:rPr>
              <a:t>OOM Failures</a:t>
            </a:r>
            <a:endParaRPr lang="en-US" sz="900" dirty="0"/>
          </a:p>
        </p:txBody>
      </p:sp>
      <p:sp>
        <p:nvSpPr>
          <p:cNvPr id="29" name="Text 22"/>
          <p:cNvSpPr/>
          <p:nvPr/>
        </p:nvSpPr>
        <p:spPr>
          <a:xfrm>
            <a:off x="320040" y="2633472"/>
            <a:ext cx="4572000" cy="292608"/>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Per-Query Breakdown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2944368"/>
          <a:ext cx="5029200" cy="2011680"/>
        </p:xfrm>
        <a:graphic>
          <a:graphicData uri="http://schemas.openxmlformats.org/drawingml/2006/table">
            <a:tbl>
              <a:tblPr/>
              <a:tblGrid>
                <a:gridCol w="2286000"/>
                <a:gridCol w="914400"/>
                <a:gridCol w="914400"/>
                <a:gridCol w="914400"/>
              </a:tblGrid>
              <a:tr h="287383">
                <a:tc>
                  <a:txBody>
                    <a:bodyPr/>
                    <a:lstStyle/>
                    <a:p>
                      <a:pPr indent="0" marL="0">
                        <a:buNone/>
                      </a:pPr>
                      <a:r>
                        <a:rPr lang="en-US" sz="1000" b="1" dirty="0">
                          <a:solidFill>
                            <a:srgbClr val="FFFFFF"/>
                          </a:solidFill>
                          <a:latin typeface="Arial" pitchFamily="34" charset="0"/>
                          <a:ea typeface="Arial" pitchFamily="34" charset="-122"/>
                          <a:cs typeface="Arial" pitchFamily="34" charset="-120"/>
                        </a:rPr>
                        <a:t>Query</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Latency (s)</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Speed (t/s)</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RAM (MB)</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A5F"/>
                    </a:solidFill>
                  </a:tcPr>
                </a:tc>
              </a:tr>
              <a:tr h="287383">
                <a:tc>
                  <a:txBody>
                    <a:bodyPr/>
                    <a:lstStyle/>
                    <a:p>
                      <a:pPr indent="0" marL="0">
                        <a:buNone/>
                      </a:pPr>
                      <a:r>
                        <a:rPr lang="en-US" sz="1000" dirty="0">
                          <a:solidFill>
                            <a:srgbClr val="000000"/>
                          </a:solidFill>
                          <a:latin typeface="Arial" pitchFamily="34" charset="0"/>
                          <a:ea typeface="Arial" pitchFamily="34" charset="-122"/>
                          <a:cs typeface="Arial" pitchFamily="34" charset="-120"/>
                        </a:rPr>
                        <a:t>Interrupt handler</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0B981"/>
                          </a:solidFill>
                          <a:latin typeface="Arial" pitchFamily="34" charset="0"/>
                          <a:ea typeface="Arial" pitchFamily="34" charset="-122"/>
                          <a:cs typeface="Arial" pitchFamily="34" charset="-120"/>
                        </a:rPr>
                        <a:t>56.7</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2.93</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729</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87383">
                <a:tc>
                  <a:txBody>
                    <a:bodyPr/>
                    <a:lstStyle/>
                    <a:p>
                      <a:pPr indent="0" marL="0">
                        <a:buNone/>
                      </a:pPr>
                      <a:r>
                        <a:rPr lang="en-US" sz="1000" dirty="0">
                          <a:solidFill>
                            <a:srgbClr val="000000"/>
                          </a:solidFill>
                          <a:latin typeface="Arial" pitchFamily="34" charset="0"/>
                          <a:ea typeface="Arial" pitchFamily="34" charset="-122"/>
                          <a:cs typeface="Arial" pitchFamily="34" charset="-120"/>
                        </a:rPr>
                        <a:t>Memory protection</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F59E0B"/>
                          </a:solidFill>
                          <a:latin typeface="Arial" pitchFamily="34" charset="0"/>
                          <a:ea typeface="Arial" pitchFamily="34" charset="-122"/>
                          <a:cs typeface="Arial" pitchFamily="34" charset="-120"/>
                        </a:rPr>
                        <a:t>61.1</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2.71</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729</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87383">
                <a:tc>
                  <a:txBody>
                    <a:bodyPr/>
                    <a:lstStyle/>
                    <a:p>
                      <a:pPr indent="0" marL="0">
                        <a:buNone/>
                      </a:pPr>
                      <a:r>
                        <a:rPr lang="en-US" sz="1000" dirty="0">
                          <a:solidFill>
                            <a:srgbClr val="000000"/>
                          </a:solidFill>
                          <a:latin typeface="Arial" pitchFamily="34" charset="0"/>
                          <a:ea typeface="Arial" pitchFamily="34" charset="-122"/>
                          <a:cs typeface="Arial" pitchFamily="34" charset="-120"/>
                        </a:rPr>
                        <a:t>ARM Thumb vs ARM</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0B981"/>
                          </a:solidFill>
                          <a:latin typeface="Arial" pitchFamily="34" charset="0"/>
                          <a:ea typeface="Arial" pitchFamily="34" charset="-122"/>
                          <a:cs typeface="Arial" pitchFamily="34" charset="-120"/>
                        </a:rPr>
                        <a:t>49.3</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3.39</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729</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87383">
                <a:tc>
                  <a:txBody>
                    <a:bodyPr/>
                    <a:lstStyle/>
                    <a:p>
                      <a:pPr indent="0" marL="0">
                        <a:buNone/>
                      </a:pPr>
                      <a:r>
                        <a:rPr lang="en-US" sz="1000" dirty="0">
                          <a:solidFill>
                            <a:srgbClr val="000000"/>
                          </a:solidFill>
                          <a:latin typeface="Arial" pitchFamily="34" charset="0"/>
                          <a:ea typeface="Arial" pitchFamily="34" charset="-122"/>
                          <a:cs typeface="Arial" pitchFamily="34" charset="-120"/>
                        </a:rPr>
                        <a:t>Pipeline stages</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0B981"/>
                          </a:solidFill>
                          <a:latin typeface="Arial" pitchFamily="34" charset="0"/>
                          <a:ea typeface="Arial" pitchFamily="34" charset="-122"/>
                          <a:cs typeface="Arial" pitchFamily="34" charset="-120"/>
                        </a:rPr>
                        <a:t>48.6</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3.45</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729</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87383">
                <a:tc>
                  <a:txBody>
                    <a:bodyPr/>
                    <a:lstStyle/>
                    <a:p>
                      <a:pPr indent="0" marL="0">
                        <a:buNone/>
                      </a:pPr>
                      <a:r>
                        <a:rPr lang="en-US" sz="1000" dirty="0">
                          <a:solidFill>
                            <a:srgbClr val="000000"/>
                          </a:solidFill>
                          <a:latin typeface="Arial" pitchFamily="34" charset="0"/>
                          <a:ea typeface="Arial" pitchFamily="34" charset="-122"/>
                          <a:cs typeface="Arial" pitchFamily="34" charset="-120"/>
                        </a:rPr>
                        <a:t>DVFS</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EF4444"/>
                          </a:solidFill>
                          <a:latin typeface="Arial" pitchFamily="34" charset="0"/>
                          <a:ea typeface="Arial" pitchFamily="34" charset="-122"/>
                          <a:cs typeface="Arial" pitchFamily="34" charset="-120"/>
                        </a:rPr>
                        <a:t>77.3</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2.11</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729</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87383">
                <a:tc>
                  <a:txBody>
                    <a:bodyPr/>
                    <a:lstStyle/>
                    <a:p>
                      <a:pPr indent="0" marL="0">
                        <a:buNone/>
                      </a:pPr>
                      <a:r>
                        <a:rPr lang="en-US" sz="1000" b="1" dirty="0">
                          <a:solidFill>
                            <a:srgbClr val="000000"/>
                          </a:solidFill>
                          <a:latin typeface="Arial" pitchFamily="34" charset="0"/>
                          <a:ea typeface="Arial" pitchFamily="34" charset="-122"/>
                          <a:cs typeface="Arial" pitchFamily="34" charset="-120"/>
                        </a:rPr>
                        <a:t>Average</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b="1" dirty="0">
                          <a:solidFill>
                            <a:srgbClr val="2E75B6"/>
                          </a:solidFill>
                          <a:latin typeface="Arial" pitchFamily="34" charset="0"/>
                          <a:ea typeface="Arial" pitchFamily="34" charset="-122"/>
                          <a:cs typeface="Arial" pitchFamily="34" charset="-120"/>
                        </a:rPr>
                        <a:t>58.6</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b="1" dirty="0">
                          <a:solidFill>
                            <a:srgbClr val="2E75B6"/>
                          </a:solidFill>
                          <a:latin typeface="Arial" pitchFamily="34" charset="0"/>
                          <a:ea typeface="Arial" pitchFamily="34" charset="-122"/>
                          <a:cs typeface="Arial" pitchFamily="34" charset="-120"/>
                        </a:rPr>
                        <a:t>2.92</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b="1" dirty="0">
                          <a:solidFill>
                            <a:srgbClr val="2E75B6"/>
                          </a:solidFill>
                          <a:latin typeface="Arial" pitchFamily="34" charset="0"/>
                          <a:ea typeface="Arial" pitchFamily="34" charset="-122"/>
                          <a:cs typeface="Arial" pitchFamily="34" charset="-120"/>
                        </a:rPr>
                        <a:t>729</a:t>
                      </a:r>
                      <a:endParaRPr lang="en-US" sz="10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31" name="Shape 23"/>
          <p:cNvSpPr/>
          <p:nvPr/>
        </p:nvSpPr>
        <p:spPr>
          <a:xfrm>
            <a:off x="5532120" y="2633472"/>
            <a:ext cx="3291840" cy="2340864"/>
          </a:xfrm>
          <a:prstGeom prst="roundRect">
            <a:avLst>
              <a:gd name="adj" fmla="val 3906"/>
            </a:avLst>
          </a:prstGeom>
          <a:solidFill>
            <a:srgbClr val="FFFFFF"/>
          </a:solidFill>
          <a:ln/>
          <a:effectLst>
            <a:outerShdw sx="100000" sy="100000" kx="0" ky="0" algn="bl" rotWithShape="0" blurRad="76200" dist="25400" dir="2700000">
              <a:srgbClr val="000000">
                <a:alpha val="8000"/>
              </a:srgbClr>
            </a:outerShdw>
          </a:effectLst>
        </p:spPr>
      </p:sp>
      <p:sp>
        <p:nvSpPr>
          <p:cNvPr id="32" name="Text 24"/>
          <p:cNvSpPr/>
          <p:nvPr/>
        </p:nvSpPr>
        <p:spPr>
          <a:xfrm>
            <a:off x="5623560" y="2679192"/>
            <a:ext cx="3108960" cy="27432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Sample Answer</a:t>
            </a:r>
            <a:endParaRPr lang="en-US" sz="1000" dirty="0"/>
          </a:p>
        </p:txBody>
      </p:sp>
      <p:sp>
        <p:nvSpPr>
          <p:cNvPr id="33" name="Text 25"/>
          <p:cNvSpPr/>
          <p:nvPr/>
        </p:nvSpPr>
        <p:spPr>
          <a:xfrm>
            <a:off x="5623560" y="2962656"/>
            <a:ext cx="3108960" cy="1874520"/>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"The ARM Cortex-A53 is a CPU core designed by ARM Holdings, part of the Cortex-A RISC family. Introduced in 2013, it is widely used in mobile and embedded markets for its balance between performance and power efficiency..."</a:t>
            </a:r>
            <a:endParaRPr lang="en-US" sz="900" dirty="0"/>
          </a:p>
        </p:txBody>
      </p:sp>
      <p:sp>
        <p:nvSpPr>
          <p:cNvPr id="34" name="Text 26"/>
          <p:cNvSpPr/>
          <p:nvPr/>
        </p:nvSpPr>
        <p:spPr>
          <a:xfrm>
            <a:off x="274320" y="4846320"/>
            <a:ext cx="8595360" cy="274320"/>
          </a:xfrm>
          <a:prstGeom prst="rect">
            <a:avLst/>
          </a:prstGeom>
          <a:noFill/>
          <a:ln/>
        </p:spPr>
        <p:txBody>
          <a:bodyPr wrap="square"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EdgeRAG  |  CMP720 Spring 2026  |  Hüseyin Eren Doğan  |  </a:t>
            </a:r>
            <a:pPr algn="ctr" indent="0" marL="0">
              <a:buNone/>
            </a:pPr>
            <a:r>
              <a:rPr lang="en-US" sz="900" b="1" dirty="0">
                <a:solidFill>
                  <a:srgbClr val="00B4D8"/>
                </a:solidFill>
                <a:latin typeface="Arial" pitchFamily="34" charset="0"/>
                <a:ea typeface="Arial" pitchFamily="34" charset="-122"/>
                <a:cs typeface="Arial" pitchFamily="34" charset="-120"/>
              </a:rPr>
              <a:t>Results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A5F"/>
          </a:solidFill>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5. Discussion — Technical Insights &amp; ESD Considerations</a:t>
            </a:r>
            <a:endParaRPr lang="en-US" sz="2400" dirty="0"/>
          </a:p>
        </p:txBody>
      </p:sp>
      <p:sp>
        <p:nvSpPr>
          <p:cNvPr id="4" name="Shape 2"/>
          <p:cNvSpPr/>
          <p:nvPr/>
        </p:nvSpPr>
        <p:spPr>
          <a:xfrm>
            <a:off x="320040" y="960120"/>
            <a:ext cx="4297680" cy="3657600"/>
          </a:xfrm>
          <a:prstGeom prst="roundRect">
            <a:avLst>
              <a:gd name="adj" fmla="val 3000"/>
            </a:avLst>
          </a:prstGeom>
          <a:solidFill>
            <a:srgbClr val="FFFFFF"/>
          </a:solidFill>
          <a:ln/>
          <a:effectLst>
            <a:outerShdw sx="100000" sy="100000" kx="0" ky="0" algn="bl" rotWithShape="0" blurRad="76200" dist="25400" dir="2700000">
              <a:srgbClr val="000000">
                <a:alpha val="8000"/>
              </a:srgbClr>
            </a:outerShdw>
          </a:effectLst>
        </p:spPr>
      </p:sp>
      <p:pic>
        <p:nvPicPr>
          <p:cNvPr id="5" name="Image 0" descr="preencoded.png">    </p:cNvPr>
          <p:cNvPicPr>
            <a:picLocks noChangeAspect="1"/>
          </p:cNvPicPr>
          <p:nvPr/>
        </p:nvPicPr>
        <p:blipFill>
          <a:blip r:embed="rId1"/>
          <a:stretch>
            <a:fillRect/>
          </a:stretch>
        </p:blipFill>
        <p:spPr>
          <a:xfrm>
            <a:off x="438912" y="1051560"/>
            <a:ext cx="274320" cy="274320"/>
          </a:xfrm>
          <a:prstGeom prst="rect">
            <a:avLst/>
          </a:prstGeom>
        </p:spPr>
      </p:pic>
      <p:sp>
        <p:nvSpPr>
          <p:cNvPr id="6" name="Text 3"/>
          <p:cNvSpPr/>
          <p:nvPr/>
        </p:nvSpPr>
        <p:spPr>
          <a:xfrm>
            <a:off x="786384" y="1024128"/>
            <a:ext cx="3694176" cy="256032"/>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  KPN memory isolation</a:t>
            </a:r>
            <a:endParaRPr lang="en-US" sz="1100" dirty="0"/>
          </a:p>
        </p:txBody>
      </p:sp>
      <p:sp>
        <p:nvSpPr>
          <p:cNvPr id="7" name="Text 4"/>
          <p:cNvSpPr/>
          <p:nvPr/>
        </p:nvSpPr>
        <p:spPr>
          <a:xfrm>
            <a:off x="786384" y="1261872"/>
            <a:ext cx="3694176" cy="256032"/>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gc.collect() at boundaries → 729 MB peak (budget: 1800 MB)</a:t>
            </a:r>
            <a:endParaRPr lang="en-US" sz="1000" dirty="0"/>
          </a:p>
        </p:txBody>
      </p:sp>
      <p:pic>
        <p:nvPicPr>
          <p:cNvPr id="8" name="Image 1" descr="preencoded.png">    </p:cNvPr>
          <p:cNvPicPr>
            <a:picLocks noChangeAspect="1"/>
          </p:cNvPicPr>
          <p:nvPr/>
        </p:nvPicPr>
        <p:blipFill>
          <a:blip r:embed="rId2"/>
          <a:stretch>
            <a:fillRect/>
          </a:stretch>
        </p:blipFill>
        <p:spPr>
          <a:xfrm>
            <a:off x="438912" y="1709928"/>
            <a:ext cx="274320" cy="274320"/>
          </a:xfrm>
          <a:prstGeom prst="rect">
            <a:avLst/>
          </a:prstGeom>
        </p:spPr>
      </p:pic>
      <p:sp>
        <p:nvSpPr>
          <p:cNvPr id="9" name="Text 5"/>
          <p:cNvSpPr/>
          <p:nvPr/>
        </p:nvSpPr>
        <p:spPr>
          <a:xfrm>
            <a:off x="786384" y="1682496"/>
            <a:ext cx="3694176" cy="256032"/>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  CPU-only PyTorch</a:t>
            </a:r>
            <a:endParaRPr lang="en-US" sz="1100" dirty="0"/>
          </a:p>
        </p:txBody>
      </p:sp>
      <p:sp>
        <p:nvSpPr>
          <p:cNvPr id="10" name="Text 6"/>
          <p:cNvSpPr/>
          <p:nvPr/>
        </p:nvSpPr>
        <p:spPr>
          <a:xfrm>
            <a:off x="786384" y="1920240"/>
            <a:ext cx="3694176" cy="256032"/>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Switching from CUDA wheel: 4.5 GB → 729 MB RAM</a:t>
            </a:r>
            <a:endParaRPr lang="en-US" sz="1000" dirty="0"/>
          </a:p>
        </p:txBody>
      </p:sp>
      <p:pic>
        <p:nvPicPr>
          <p:cNvPr id="11" name="Image 2" descr="preencoded.png">    </p:cNvPr>
          <p:cNvPicPr>
            <a:picLocks noChangeAspect="1"/>
          </p:cNvPicPr>
          <p:nvPr/>
        </p:nvPicPr>
        <p:blipFill>
          <a:blip r:embed="rId3"/>
          <a:stretch>
            <a:fillRect/>
          </a:stretch>
        </p:blipFill>
        <p:spPr>
          <a:xfrm>
            <a:off x="438912" y="2368296"/>
            <a:ext cx="274320" cy="274320"/>
          </a:xfrm>
          <a:prstGeom prst="rect">
            <a:avLst/>
          </a:prstGeom>
        </p:spPr>
      </p:pic>
      <p:sp>
        <p:nvSpPr>
          <p:cNvPr id="12" name="Text 7"/>
          <p:cNvSpPr/>
          <p:nvPr/>
        </p:nvSpPr>
        <p:spPr>
          <a:xfrm>
            <a:off x="786384" y="2340864"/>
            <a:ext cx="3694176" cy="256032"/>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  Phi-3 grounded answers</a:t>
            </a:r>
            <a:endParaRPr lang="en-US" sz="1100" dirty="0"/>
          </a:p>
        </p:txBody>
      </p:sp>
      <p:sp>
        <p:nvSpPr>
          <p:cNvPr id="13" name="Text 8"/>
          <p:cNvSpPr/>
          <p:nvPr/>
        </p:nvSpPr>
        <p:spPr>
          <a:xfrm>
            <a:off x="786384" y="2578608"/>
            <a:ext cx="3694176" cy="256032"/>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Q4_K_M at 2.92 t/s — far above 0.5 t/s target</a:t>
            </a:r>
            <a:endParaRPr lang="en-US" sz="1000" dirty="0"/>
          </a:p>
        </p:txBody>
      </p:sp>
      <p:pic>
        <p:nvPicPr>
          <p:cNvPr id="14" name="Image 3" descr="preencoded.png">    </p:cNvPr>
          <p:cNvPicPr>
            <a:picLocks noChangeAspect="1"/>
          </p:cNvPicPr>
          <p:nvPr/>
        </p:nvPicPr>
        <p:blipFill>
          <a:blip r:embed="rId4"/>
          <a:stretch>
            <a:fillRect/>
          </a:stretch>
        </p:blipFill>
        <p:spPr>
          <a:xfrm>
            <a:off x="438912" y="3026664"/>
            <a:ext cx="274320" cy="274320"/>
          </a:xfrm>
          <a:prstGeom prst="rect">
            <a:avLst/>
          </a:prstGeom>
        </p:spPr>
      </p:pic>
      <p:sp>
        <p:nvSpPr>
          <p:cNvPr id="15" name="Text 9"/>
          <p:cNvSpPr/>
          <p:nvPr/>
        </p:nvSpPr>
        <p:spPr>
          <a:xfrm>
            <a:off x="786384" y="2999232"/>
            <a:ext cx="3694176" cy="256032"/>
          </a:xfrm>
          <a:prstGeom prst="rect">
            <a:avLst/>
          </a:prstGeom>
          <a:noFill/>
          <a:ln/>
        </p:spPr>
        <p:txBody>
          <a:bodyPr wrap="square" lIns="0" tIns="0" rIns="0" bIns="0" rtlCol="0" anchor="ctr"/>
          <a:lstStyle/>
          <a:p>
            <a:pPr indent="0" marL="0">
              <a:buNone/>
            </a:pPr>
            <a:r>
              <a:rPr lang="en-US" sz="1100" b="1" dirty="0">
                <a:solidFill>
                  <a:srgbClr val="EF4444"/>
                </a:solidFill>
                <a:latin typeface="Arial" pitchFamily="34" charset="0"/>
                <a:ea typeface="Arial" pitchFamily="34" charset="-122"/>
                <a:cs typeface="Arial" pitchFamily="34" charset="-120"/>
              </a:rPr>
              <a:t>✗  QEMU inference viable</a:t>
            </a:r>
            <a:endParaRPr lang="en-US" sz="1100" dirty="0"/>
          </a:p>
        </p:txBody>
      </p:sp>
      <p:sp>
        <p:nvSpPr>
          <p:cNvPr id="16" name="Text 10"/>
          <p:cNvSpPr/>
          <p:nvPr/>
        </p:nvSpPr>
        <p:spPr>
          <a:xfrm>
            <a:off x="786384" y="3236976"/>
            <a:ext cx="3694176" cy="256032"/>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50–100× overhead; functional test only, not perf eval</a:t>
            </a:r>
            <a:endParaRPr lang="en-US" sz="1000" dirty="0"/>
          </a:p>
        </p:txBody>
      </p:sp>
      <p:pic>
        <p:nvPicPr>
          <p:cNvPr id="17" name="Image 4" descr="preencoded.png">    </p:cNvPr>
          <p:cNvPicPr>
            <a:picLocks noChangeAspect="1"/>
          </p:cNvPicPr>
          <p:nvPr/>
        </p:nvPicPr>
        <p:blipFill>
          <a:blip r:embed="rId5"/>
          <a:stretch>
            <a:fillRect/>
          </a:stretch>
        </p:blipFill>
        <p:spPr>
          <a:xfrm>
            <a:off x="438912" y="3685032"/>
            <a:ext cx="274320" cy="274320"/>
          </a:xfrm>
          <a:prstGeom prst="rect">
            <a:avLst/>
          </a:prstGeom>
        </p:spPr>
      </p:pic>
      <p:sp>
        <p:nvSpPr>
          <p:cNvPr id="18" name="Text 11"/>
          <p:cNvSpPr/>
          <p:nvPr/>
        </p:nvSpPr>
        <p:spPr>
          <a:xfrm>
            <a:off x="786384" y="3657600"/>
            <a:ext cx="3694176" cy="256032"/>
          </a:xfrm>
          <a:prstGeom prst="rect">
            <a:avLst/>
          </a:prstGeom>
          <a:noFill/>
          <a:ln/>
        </p:spPr>
        <p:txBody>
          <a:bodyPr wrap="square" lIns="0" tIns="0" rIns="0" bIns="0" rtlCol="0" anchor="ctr"/>
          <a:lstStyle/>
          <a:p>
            <a:pPr indent="0" marL="0">
              <a:buNone/>
            </a:pPr>
            <a:r>
              <a:rPr lang="en-US" sz="1100" b="1" dirty="0">
                <a:solidFill>
                  <a:srgbClr val="EF4444"/>
                </a:solidFill>
                <a:latin typeface="Arial" pitchFamily="34" charset="0"/>
                <a:ea typeface="Arial" pitchFamily="34" charset="-122"/>
                <a:cs typeface="Arial" pitchFamily="34" charset="-120"/>
              </a:rPr>
              <a:t>✗  DVFS latency budget</a:t>
            </a:r>
            <a:endParaRPr lang="en-US" sz="1100" dirty="0"/>
          </a:p>
        </p:txBody>
      </p:sp>
      <p:sp>
        <p:nvSpPr>
          <p:cNvPr id="19" name="Text 12"/>
          <p:cNvSpPr/>
          <p:nvPr/>
        </p:nvSpPr>
        <p:spPr>
          <a:xfrm>
            <a:off x="786384" y="3895344"/>
            <a:ext cx="3694176" cy="256032"/>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77.3 s &gt; 60 s target; fix: reduce max_tokens 150→100</a:t>
            </a:r>
            <a:endParaRPr lang="en-US" sz="1000" dirty="0"/>
          </a:p>
        </p:txBody>
      </p:sp>
      <p:sp>
        <p:nvSpPr>
          <p:cNvPr id="20" name="Shape 13"/>
          <p:cNvSpPr/>
          <p:nvPr/>
        </p:nvSpPr>
        <p:spPr>
          <a:xfrm>
            <a:off x="4800600" y="960120"/>
            <a:ext cx="4023360" cy="3657600"/>
          </a:xfrm>
          <a:prstGeom prst="roundRect">
            <a:avLst>
              <a:gd name="adj" fmla="val 3000"/>
            </a:avLst>
          </a:prstGeom>
          <a:solidFill>
            <a:srgbClr val="FFFFFF"/>
          </a:solidFill>
          <a:ln/>
          <a:effectLst>
            <a:outerShdw sx="100000" sy="100000" kx="0" ky="0" algn="bl" rotWithShape="0" blurRad="76200" dist="25400" dir="2700000">
              <a:srgbClr val="000000">
                <a:alpha val="8000"/>
              </a:srgbClr>
            </a:outerShdw>
          </a:effectLst>
        </p:spPr>
      </p:sp>
      <p:sp>
        <p:nvSpPr>
          <p:cNvPr id="21" name="Text 14"/>
          <p:cNvSpPr/>
          <p:nvPr/>
        </p:nvSpPr>
        <p:spPr>
          <a:xfrm>
            <a:off x="4937760" y="1005840"/>
            <a:ext cx="3749040" cy="320040"/>
          </a:xfrm>
          <a:prstGeom prst="rect">
            <a:avLst/>
          </a:prstGeom>
          <a:noFill/>
          <a:ln/>
        </p:spPr>
        <p:txBody>
          <a:bodyPr wrap="square" lIns="0" tIns="0" rIns="0" bIns="0" rtlCol="0" anchor="ctr"/>
          <a:lstStyle/>
          <a:p>
            <a:pPr indent="0" marL="0">
              <a:buNone/>
            </a:pPr>
            <a:r>
              <a:rPr lang="en-US" sz="1300" b="1" dirty="0">
                <a:solidFill>
                  <a:srgbClr val="1F3A5F"/>
                </a:solidFill>
                <a:latin typeface="Arial" pitchFamily="34" charset="0"/>
                <a:ea typeface="Arial" pitchFamily="34" charset="-122"/>
                <a:cs typeface="Arial" pitchFamily="34" charset="-120"/>
              </a:rPr>
              <a:t>ESD Considerations</a:t>
            </a:r>
            <a:endParaRPr lang="en-US" sz="1300" dirty="0"/>
          </a:p>
        </p:txBody>
      </p:sp>
      <p:sp>
        <p:nvSpPr>
          <p:cNvPr id="22" name="Text 15"/>
          <p:cNvSpPr/>
          <p:nvPr/>
        </p:nvSpPr>
        <p:spPr>
          <a:xfrm>
            <a:off x="4937760" y="1417320"/>
            <a:ext cx="3749040" cy="237744"/>
          </a:xfrm>
          <a:prstGeom prst="rect">
            <a:avLst/>
          </a:prstGeom>
          <a:noFill/>
          <a:ln/>
        </p:spPr>
        <p:txBody>
          <a:bodyPr wrap="square" lIns="0" tIns="0" rIns="0" bIns="0" rtlCol="0" anchor="ctr"/>
          <a:lstStyle/>
          <a:p>
            <a:pPr indent="0" marL="0">
              <a:buNone/>
            </a:pPr>
            <a:r>
              <a:rPr lang="en-US" sz="1100" b="1" dirty="0">
                <a:solidFill>
                  <a:srgbClr val="2E75B6"/>
                </a:solidFill>
                <a:latin typeface="Arial" pitchFamily="34" charset="0"/>
                <a:ea typeface="Arial" pitchFamily="34" charset="-122"/>
                <a:cs typeface="Arial" pitchFamily="34" charset="-120"/>
              </a:rPr>
              <a:t>Real-Time</a:t>
            </a:r>
            <a:endParaRPr lang="en-US" sz="1100" dirty="0"/>
          </a:p>
        </p:txBody>
      </p:sp>
      <p:sp>
        <p:nvSpPr>
          <p:cNvPr id="23" name="Text 16"/>
          <p:cNvSpPr/>
          <p:nvPr/>
        </p:nvSpPr>
        <p:spPr>
          <a:xfrm>
            <a:off x="4937760" y="1636776"/>
            <a:ext cx="3749040" cy="237744"/>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Soft 60 s target; 4/5 pass, 1 exceeds by 17 s</a:t>
            </a:r>
            <a:endParaRPr lang="en-US" sz="1000" dirty="0"/>
          </a:p>
        </p:txBody>
      </p:sp>
      <p:sp>
        <p:nvSpPr>
          <p:cNvPr id="24" name="Text 17"/>
          <p:cNvSpPr/>
          <p:nvPr/>
        </p:nvSpPr>
        <p:spPr>
          <a:xfrm>
            <a:off x="4937760" y="2002536"/>
            <a:ext cx="3749040" cy="237744"/>
          </a:xfrm>
          <a:prstGeom prst="rect">
            <a:avLst/>
          </a:prstGeom>
          <a:noFill/>
          <a:ln/>
        </p:spPr>
        <p:txBody>
          <a:bodyPr wrap="square" lIns="0" tIns="0" rIns="0" bIns="0" rtlCol="0" anchor="ctr"/>
          <a:lstStyle/>
          <a:p>
            <a:pPr indent="0" marL="0">
              <a:buNone/>
            </a:pPr>
            <a:r>
              <a:rPr lang="en-US" sz="1100" b="1" dirty="0">
                <a:solidFill>
                  <a:srgbClr val="2E75B6"/>
                </a:solidFill>
                <a:latin typeface="Arial" pitchFamily="34" charset="0"/>
                <a:ea typeface="Arial" pitchFamily="34" charset="-122"/>
                <a:cs typeface="Arial" pitchFamily="34" charset="-120"/>
              </a:rPr>
              <a:t>Energy</a:t>
            </a:r>
            <a:endParaRPr lang="en-US" sz="1100" dirty="0"/>
          </a:p>
        </p:txBody>
      </p:sp>
      <p:sp>
        <p:nvSpPr>
          <p:cNvPr id="25" name="Text 18"/>
          <p:cNvSpPr/>
          <p:nvPr/>
        </p:nvSpPr>
        <p:spPr>
          <a:xfrm>
            <a:off x="4937760" y="2221992"/>
            <a:ext cx="3749040" cy="237744"/>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CPU-only; no cloud round-trips; no GPU power draw</a:t>
            </a:r>
            <a:endParaRPr lang="en-US" sz="1000" dirty="0"/>
          </a:p>
        </p:txBody>
      </p:sp>
      <p:sp>
        <p:nvSpPr>
          <p:cNvPr id="26" name="Text 19"/>
          <p:cNvSpPr/>
          <p:nvPr/>
        </p:nvSpPr>
        <p:spPr>
          <a:xfrm>
            <a:off x="4937760" y="2587752"/>
            <a:ext cx="3749040" cy="237744"/>
          </a:xfrm>
          <a:prstGeom prst="rect">
            <a:avLst/>
          </a:prstGeom>
          <a:noFill/>
          <a:ln/>
        </p:spPr>
        <p:txBody>
          <a:bodyPr wrap="square" lIns="0" tIns="0" rIns="0" bIns="0" rtlCol="0" anchor="ctr"/>
          <a:lstStyle/>
          <a:p>
            <a:pPr indent="0" marL="0">
              <a:buNone/>
            </a:pPr>
            <a:r>
              <a:rPr lang="en-US" sz="1100" b="1" dirty="0">
                <a:solidFill>
                  <a:srgbClr val="2E75B6"/>
                </a:solidFill>
                <a:latin typeface="Arial" pitchFamily="34" charset="0"/>
                <a:ea typeface="Arial" pitchFamily="34" charset="-122"/>
                <a:cs typeface="Arial" pitchFamily="34" charset="-120"/>
              </a:rPr>
              <a:t>Reliability</a:t>
            </a:r>
            <a:endParaRPr lang="en-US" sz="1100" dirty="0"/>
          </a:p>
        </p:txBody>
      </p:sp>
      <p:sp>
        <p:nvSpPr>
          <p:cNvPr id="27" name="Text 20"/>
          <p:cNvSpPr/>
          <p:nvPr/>
        </p:nvSpPr>
        <p:spPr>
          <a:xfrm>
            <a:off x="4937760" y="2807208"/>
            <a:ext cx="3749040" cy="237744"/>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0 OOM failures; psutil watchdog at &lt;100 MB free</a:t>
            </a:r>
            <a:endParaRPr lang="en-US" sz="1000" dirty="0"/>
          </a:p>
        </p:txBody>
      </p:sp>
      <p:sp>
        <p:nvSpPr>
          <p:cNvPr id="28" name="Text 21"/>
          <p:cNvSpPr/>
          <p:nvPr/>
        </p:nvSpPr>
        <p:spPr>
          <a:xfrm>
            <a:off x="4937760" y="3172968"/>
            <a:ext cx="3749040" cy="237744"/>
          </a:xfrm>
          <a:prstGeom prst="rect">
            <a:avLst/>
          </a:prstGeom>
          <a:noFill/>
          <a:ln/>
        </p:spPr>
        <p:txBody>
          <a:bodyPr wrap="square" lIns="0" tIns="0" rIns="0" bIns="0" rtlCol="0" anchor="ctr"/>
          <a:lstStyle/>
          <a:p>
            <a:pPr indent="0" marL="0">
              <a:buNone/>
            </a:pPr>
            <a:r>
              <a:rPr lang="en-US" sz="1100" b="1" dirty="0">
                <a:solidFill>
                  <a:srgbClr val="2E75B6"/>
                </a:solidFill>
                <a:latin typeface="Arial" pitchFamily="34" charset="0"/>
                <a:ea typeface="Arial" pitchFamily="34" charset="-122"/>
                <a:cs typeface="Arial" pitchFamily="34" charset="-120"/>
              </a:rPr>
              <a:t>Security</a:t>
            </a:r>
            <a:endParaRPr lang="en-US" sz="1100" dirty="0"/>
          </a:p>
        </p:txBody>
      </p:sp>
      <p:sp>
        <p:nvSpPr>
          <p:cNvPr id="29" name="Text 22"/>
          <p:cNvSpPr/>
          <p:nvPr/>
        </p:nvSpPr>
        <p:spPr>
          <a:xfrm>
            <a:off x="4937760" y="3392424"/>
            <a:ext cx="3749040" cy="237744"/>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Zero network egress (-net none); SHA-256 model check</a:t>
            </a:r>
            <a:endParaRPr lang="en-US" sz="1000" dirty="0"/>
          </a:p>
        </p:txBody>
      </p:sp>
      <p:sp>
        <p:nvSpPr>
          <p:cNvPr id="30" name="Text 23"/>
          <p:cNvSpPr/>
          <p:nvPr/>
        </p:nvSpPr>
        <p:spPr>
          <a:xfrm>
            <a:off x="4937760" y="3758184"/>
            <a:ext cx="3749040" cy="237744"/>
          </a:xfrm>
          <a:prstGeom prst="rect">
            <a:avLst/>
          </a:prstGeom>
          <a:noFill/>
          <a:ln/>
        </p:spPr>
        <p:txBody>
          <a:bodyPr wrap="square" lIns="0" tIns="0" rIns="0" bIns="0" rtlCol="0" anchor="ctr"/>
          <a:lstStyle/>
          <a:p>
            <a:pPr indent="0" marL="0">
              <a:buNone/>
            </a:pPr>
            <a:r>
              <a:rPr lang="en-US" sz="1100" b="1" dirty="0">
                <a:solidFill>
                  <a:srgbClr val="2E75B6"/>
                </a:solidFill>
                <a:latin typeface="Arial" pitchFamily="34" charset="0"/>
                <a:ea typeface="Arial" pitchFamily="34" charset="-122"/>
                <a:cs typeface="Arial" pitchFamily="34" charset="-120"/>
              </a:rPr>
              <a:t>Resources</a:t>
            </a:r>
            <a:endParaRPr lang="en-US" sz="1100" dirty="0"/>
          </a:p>
        </p:txBody>
      </p:sp>
      <p:sp>
        <p:nvSpPr>
          <p:cNvPr id="31" name="Text 24"/>
          <p:cNvSpPr/>
          <p:nvPr/>
        </p:nvSpPr>
        <p:spPr>
          <a:xfrm>
            <a:off x="4937760" y="3977640"/>
            <a:ext cx="3749040" cy="237744"/>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729 MB peak → 1271 MB headroom vs 2 GB ceiling</a:t>
            </a:r>
            <a:endParaRPr lang="en-US" sz="1000" dirty="0"/>
          </a:p>
        </p:txBody>
      </p:sp>
      <p:sp>
        <p:nvSpPr>
          <p:cNvPr id="32" name="Text 25"/>
          <p:cNvSpPr/>
          <p:nvPr/>
        </p:nvSpPr>
        <p:spPr>
          <a:xfrm>
            <a:off x="274320" y="4846320"/>
            <a:ext cx="8595360" cy="274320"/>
          </a:xfrm>
          <a:prstGeom prst="rect">
            <a:avLst/>
          </a:prstGeom>
          <a:noFill/>
          <a:ln/>
        </p:spPr>
        <p:txBody>
          <a:bodyPr wrap="square"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EdgeRAG  |  CMP720 Spring 2026  |  Hüseyin Eren Doğan  |  </a:t>
            </a:r>
            <a:pPr algn="ctr" indent="0" marL="0">
              <a:buNone/>
            </a:pPr>
            <a:r>
              <a:rPr lang="en-US" sz="900" b="1" dirty="0">
                <a:solidFill>
                  <a:srgbClr val="00B4D8"/>
                </a:solidFill>
                <a:latin typeface="Arial" pitchFamily="34" charset="0"/>
                <a:ea typeface="Arial" pitchFamily="34" charset="-122"/>
                <a:cs typeface="Arial" pitchFamily="34" charset="-120"/>
              </a:rPr>
              <a:t>Discussion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6. Conclusions &amp; Future Work</a:t>
            </a:r>
            <a:endParaRPr lang="en-US" sz="2200" dirty="0"/>
          </a:p>
        </p:txBody>
      </p:sp>
      <p:sp>
        <p:nvSpPr>
          <p:cNvPr id="4" name="Shape 2"/>
          <p:cNvSpPr/>
          <p:nvPr/>
        </p:nvSpPr>
        <p:spPr>
          <a:xfrm>
            <a:off x="320040" y="868680"/>
            <a:ext cx="8503920" cy="594360"/>
          </a:xfrm>
          <a:prstGeom prst="roundRect">
            <a:avLst>
              <a:gd name="adj" fmla="val 15385"/>
            </a:avLst>
          </a:prstGeom>
          <a:solidFill>
            <a:srgbClr val="1F3A5F"/>
          </a:solidFill>
          <a:ln/>
        </p:spPr>
      </p:sp>
      <p:sp>
        <p:nvSpPr>
          <p:cNvPr id="5" name="Text 3"/>
          <p:cNvSpPr/>
          <p:nvPr/>
        </p:nvSpPr>
        <p:spPr>
          <a:xfrm>
            <a:off x="457200" y="868680"/>
            <a:ext cx="8321040" cy="594360"/>
          </a:xfrm>
          <a:prstGeom prst="rect">
            <a:avLst/>
          </a:prstGeom>
          <a:noFill/>
          <a:ln/>
        </p:spPr>
        <p:txBody>
          <a:bodyPr wrap="square" lIns="0" tIns="0" rIns="0" bIns="0" rtlCol="0" anchor="ctr"/>
          <a:lstStyle/>
          <a:p>
            <a:pPr algn="ctr" indent="0" marL="0">
              <a:buNone/>
            </a:pPr>
            <a:r>
              <a:rPr lang="en-US" sz="1200" b="1" dirty="0">
                <a:solidFill>
                  <a:srgbClr val="00B4D8"/>
                </a:solidFill>
                <a:latin typeface="Arial" pitchFamily="34" charset="0"/>
                <a:ea typeface="Arial" pitchFamily="34" charset="-122"/>
                <a:cs typeface="Arial" pitchFamily="34" charset="-120"/>
              </a:rPr>
              <a:t>All 5 success criteria met  ·  100% completion  ·  0% OOM  ·  729 MB RAM  ·  2.92 t/s  ·  58.6 s latency</a:t>
            </a:r>
            <a:endParaRPr lang="en-US" sz="1200" dirty="0"/>
          </a:p>
        </p:txBody>
      </p:sp>
      <p:sp>
        <p:nvSpPr>
          <p:cNvPr id="6" name="Text 4"/>
          <p:cNvSpPr/>
          <p:nvPr/>
        </p:nvSpPr>
        <p:spPr>
          <a:xfrm>
            <a:off x="320040" y="1600200"/>
            <a:ext cx="4023360" cy="292608"/>
          </a:xfrm>
          <a:prstGeom prst="rect">
            <a:avLst/>
          </a:prstGeom>
          <a:noFill/>
          <a:ln/>
        </p:spPr>
        <p:txBody>
          <a:bodyPr wrap="square" lIns="0" tIns="0" rIns="0" bIns="0" rtlCol="0" anchor="ctr"/>
          <a:lstStyle/>
          <a:p>
            <a:pPr indent="0" marL="0">
              <a:buNone/>
            </a:pPr>
            <a:r>
              <a:rPr lang="en-US" sz="1300" b="1" dirty="0">
                <a:solidFill>
                  <a:srgbClr val="10B981"/>
                </a:solidFill>
                <a:latin typeface="Arial" pitchFamily="34" charset="0"/>
                <a:ea typeface="Arial" pitchFamily="34" charset="-122"/>
                <a:cs typeface="Arial" pitchFamily="34" charset="-120"/>
              </a:rPr>
              <a:t>Completed</a:t>
            </a:r>
            <a:endParaRPr lang="en-US" sz="1300" dirty="0"/>
          </a:p>
        </p:txBody>
      </p:sp>
      <p:pic>
        <p:nvPicPr>
          <p:cNvPr id="7" name="Image 0" descr="preencoded.png">    </p:cNvPr>
          <p:cNvPicPr>
            <a:picLocks noChangeAspect="1"/>
          </p:cNvPicPr>
          <p:nvPr/>
        </p:nvPicPr>
        <p:blipFill>
          <a:blip r:embed="rId1"/>
          <a:stretch>
            <a:fillRect/>
          </a:stretch>
        </p:blipFill>
        <p:spPr>
          <a:xfrm>
            <a:off x="347472" y="1956816"/>
            <a:ext cx="237744" cy="237744"/>
          </a:xfrm>
          <a:prstGeom prst="rect">
            <a:avLst/>
          </a:prstGeom>
        </p:spPr>
      </p:pic>
      <p:sp>
        <p:nvSpPr>
          <p:cNvPr id="8" name="Text 5"/>
          <p:cNvSpPr/>
          <p:nvPr/>
        </p:nvSpPr>
        <p:spPr>
          <a:xfrm>
            <a:off x="658368" y="1956816"/>
            <a:ext cx="3657600" cy="237744"/>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Full 4-stage pipeline (ingestion → generation)</a:t>
            </a:r>
            <a:endParaRPr lang="en-US" sz="1050" dirty="0"/>
          </a:p>
        </p:txBody>
      </p:sp>
      <p:pic>
        <p:nvPicPr>
          <p:cNvPr id="9" name="Image 1" descr="preencoded.png">    </p:cNvPr>
          <p:cNvPicPr>
            <a:picLocks noChangeAspect="1"/>
          </p:cNvPicPr>
          <p:nvPr/>
        </p:nvPicPr>
        <p:blipFill>
          <a:blip r:embed="rId2"/>
          <a:stretch>
            <a:fillRect/>
          </a:stretch>
        </p:blipFill>
        <p:spPr>
          <a:xfrm>
            <a:off x="347472" y="2340864"/>
            <a:ext cx="237744" cy="237744"/>
          </a:xfrm>
          <a:prstGeom prst="rect">
            <a:avLst/>
          </a:prstGeom>
        </p:spPr>
      </p:pic>
      <p:sp>
        <p:nvSpPr>
          <p:cNvPr id="10" name="Text 6"/>
          <p:cNvSpPr/>
          <p:nvPr/>
        </p:nvSpPr>
        <p:spPr>
          <a:xfrm>
            <a:off x="658368" y="2340864"/>
            <a:ext cx="3657600" cy="237744"/>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QEMU ARM64 env: boot + Python + packages</a:t>
            </a:r>
            <a:endParaRPr lang="en-US" sz="1050" dirty="0"/>
          </a:p>
        </p:txBody>
      </p:sp>
      <p:pic>
        <p:nvPicPr>
          <p:cNvPr id="11" name="Image 2" descr="preencoded.png">    </p:cNvPr>
          <p:cNvPicPr>
            <a:picLocks noChangeAspect="1"/>
          </p:cNvPicPr>
          <p:nvPr/>
        </p:nvPicPr>
        <p:blipFill>
          <a:blip r:embed="rId3"/>
          <a:stretch>
            <a:fillRect/>
          </a:stretch>
        </p:blipFill>
        <p:spPr>
          <a:xfrm>
            <a:off x="347472" y="2724912"/>
            <a:ext cx="237744" cy="237744"/>
          </a:xfrm>
          <a:prstGeom prst="rect">
            <a:avLst/>
          </a:prstGeom>
        </p:spPr>
      </p:pic>
      <p:sp>
        <p:nvSpPr>
          <p:cNvPr id="12" name="Text 7"/>
          <p:cNvSpPr/>
          <p:nvPr/>
        </p:nvSpPr>
        <p:spPr>
          <a:xfrm>
            <a:off x="658368" y="2724912"/>
            <a:ext cx="3657600" cy="237744"/>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Functional correctness validated in QEMU</a:t>
            </a:r>
            <a:endParaRPr lang="en-US" sz="1050" dirty="0"/>
          </a:p>
        </p:txBody>
      </p:sp>
      <p:pic>
        <p:nvPicPr>
          <p:cNvPr id="13" name="Image 3" descr="preencoded.png">    </p:cNvPr>
          <p:cNvPicPr>
            <a:picLocks noChangeAspect="1"/>
          </p:cNvPicPr>
          <p:nvPr/>
        </p:nvPicPr>
        <p:blipFill>
          <a:blip r:embed="rId4"/>
          <a:stretch>
            <a:fillRect/>
          </a:stretch>
        </p:blipFill>
        <p:spPr>
          <a:xfrm>
            <a:off x="347472" y="3108960"/>
            <a:ext cx="237744" cy="237744"/>
          </a:xfrm>
          <a:prstGeom prst="rect">
            <a:avLst/>
          </a:prstGeom>
        </p:spPr>
      </p:pic>
      <p:sp>
        <p:nvSpPr>
          <p:cNvPr id="14" name="Text 8"/>
          <p:cNvSpPr/>
          <p:nvPr/>
        </p:nvSpPr>
        <p:spPr>
          <a:xfrm>
            <a:off x="658368" y="3108960"/>
            <a:ext cx="3657600" cy="237744"/>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Performance evaluation on host (cgroups)</a:t>
            </a:r>
            <a:endParaRPr lang="en-US" sz="1050" dirty="0"/>
          </a:p>
        </p:txBody>
      </p:sp>
      <p:sp>
        <p:nvSpPr>
          <p:cNvPr id="15" name="Text 9"/>
          <p:cNvSpPr/>
          <p:nvPr/>
        </p:nvSpPr>
        <p:spPr>
          <a:xfrm>
            <a:off x="320040" y="3493008"/>
            <a:ext cx="4023360" cy="256032"/>
          </a:xfrm>
          <a:prstGeom prst="rect">
            <a:avLst/>
          </a:prstGeom>
          <a:noFill/>
          <a:ln/>
        </p:spPr>
        <p:txBody>
          <a:bodyPr wrap="square" lIns="0" tIns="0" rIns="0" bIns="0" rtlCol="0" anchor="ctr"/>
          <a:lstStyle/>
          <a:p>
            <a:pPr indent="0" marL="0">
              <a:buNone/>
            </a:pPr>
            <a:r>
              <a:rPr lang="en-US" sz="1300" b="1" dirty="0">
                <a:solidFill>
                  <a:srgbClr val="F59E0B"/>
                </a:solidFill>
                <a:latin typeface="Arial" pitchFamily="34" charset="0"/>
                <a:ea typeface="Arial" pitchFamily="34" charset="-122"/>
                <a:cs typeface="Arial" pitchFamily="34" charset="-120"/>
              </a:rPr>
              <a:t>Not Completed</a:t>
            </a:r>
            <a:endParaRPr lang="en-US" sz="1300" dirty="0"/>
          </a:p>
        </p:txBody>
      </p:sp>
      <p:pic>
        <p:nvPicPr>
          <p:cNvPr id="16" name="Image 4" descr="preencoded.png">    </p:cNvPr>
          <p:cNvPicPr>
            <a:picLocks noChangeAspect="1"/>
          </p:cNvPicPr>
          <p:nvPr/>
        </p:nvPicPr>
        <p:blipFill>
          <a:blip r:embed="rId5"/>
          <a:stretch>
            <a:fillRect/>
          </a:stretch>
        </p:blipFill>
        <p:spPr>
          <a:xfrm>
            <a:off x="347472" y="3803904"/>
            <a:ext cx="219456" cy="219456"/>
          </a:xfrm>
          <a:prstGeom prst="rect">
            <a:avLst/>
          </a:prstGeom>
        </p:spPr>
      </p:pic>
      <p:sp>
        <p:nvSpPr>
          <p:cNvPr id="17" name="Text 10"/>
          <p:cNvSpPr/>
          <p:nvPr/>
        </p:nvSpPr>
        <p:spPr>
          <a:xfrm>
            <a:off x="640080" y="3803904"/>
            <a:ext cx="3749040" cy="237744"/>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F1 / Recall@k QA metrics (no GT pairs)</a:t>
            </a:r>
            <a:endParaRPr lang="en-US" sz="1050" dirty="0"/>
          </a:p>
        </p:txBody>
      </p:sp>
      <p:pic>
        <p:nvPicPr>
          <p:cNvPr id="18" name="Image 5" descr="preencoded.png">    </p:cNvPr>
          <p:cNvPicPr>
            <a:picLocks noChangeAspect="1"/>
          </p:cNvPicPr>
          <p:nvPr/>
        </p:nvPicPr>
        <p:blipFill>
          <a:blip r:embed="rId6"/>
          <a:stretch>
            <a:fillRect/>
          </a:stretch>
        </p:blipFill>
        <p:spPr>
          <a:xfrm>
            <a:off x="347472" y="4151376"/>
            <a:ext cx="219456" cy="219456"/>
          </a:xfrm>
          <a:prstGeom prst="rect">
            <a:avLst/>
          </a:prstGeom>
        </p:spPr>
      </p:pic>
      <p:sp>
        <p:nvSpPr>
          <p:cNvPr id="19" name="Text 11"/>
          <p:cNvSpPr/>
          <p:nvPr/>
        </p:nvSpPr>
        <p:spPr>
          <a:xfrm>
            <a:off x="640080" y="4151376"/>
            <a:ext cx="3749040" cy="237744"/>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Native ARM Cortex-A53 hardware profiling</a:t>
            </a:r>
            <a:endParaRPr lang="en-US" sz="1050" dirty="0"/>
          </a:p>
        </p:txBody>
      </p:sp>
      <p:pic>
        <p:nvPicPr>
          <p:cNvPr id="20" name="Image 6" descr="preencoded.png">    </p:cNvPr>
          <p:cNvPicPr>
            <a:picLocks noChangeAspect="1"/>
          </p:cNvPicPr>
          <p:nvPr/>
        </p:nvPicPr>
        <p:blipFill>
          <a:blip r:embed="rId7"/>
          <a:stretch>
            <a:fillRect/>
          </a:stretch>
        </p:blipFill>
        <p:spPr>
          <a:xfrm>
            <a:off x="347472" y="4498848"/>
            <a:ext cx="219456" cy="219456"/>
          </a:xfrm>
          <a:prstGeom prst="rect">
            <a:avLst/>
          </a:prstGeom>
        </p:spPr>
      </p:pic>
      <p:sp>
        <p:nvSpPr>
          <p:cNvPr id="21" name="Text 12"/>
          <p:cNvSpPr/>
          <p:nvPr/>
        </p:nvSpPr>
        <p:spPr>
          <a:xfrm>
            <a:off x="640080" y="4498848"/>
            <a:ext cx="3749040" cy="237744"/>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Memory-stressed condition (1.5 GB RAM)</a:t>
            </a:r>
            <a:endParaRPr lang="en-US" sz="1050" dirty="0"/>
          </a:p>
        </p:txBody>
      </p:sp>
      <p:sp>
        <p:nvSpPr>
          <p:cNvPr id="22" name="Shape 13"/>
          <p:cNvSpPr/>
          <p:nvPr/>
        </p:nvSpPr>
        <p:spPr>
          <a:xfrm>
            <a:off x="4754880" y="1572768"/>
            <a:ext cx="4069080" cy="3291840"/>
          </a:xfrm>
          <a:prstGeom prst="roundRect">
            <a:avLst>
              <a:gd name="adj" fmla="val 3333"/>
            </a:avLst>
          </a:prstGeom>
          <a:solidFill>
            <a:srgbClr val="1F3A5F"/>
          </a:solidFill>
          <a:ln/>
        </p:spPr>
      </p:sp>
      <p:sp>
        <p:nvSpPr>
          <p:cNvPr id="23" name="Text 14"/>
          <p:cNvSpPr/>
          <p:nvPr/>
        </p:nvSpPr>
        <p:spPr>
          <a:xfrm>
            <a:off x="4892040" y="1645920"/>
            <a:ext cx="3749040" cy="320040"/>
          </a:xfrm>
          <a:prstGeom prst="rect">
            <a:avLst/>
          </a:prstGeom>
          <a:noFill/>
          <a:ln/>
        </p:spPr>
        <p:txBody>
          <a:bodyPr wrap="square" lIns="0" tIns="0" rIns="0" bIns="0" rtlCol="0" anchor="ctr"/>
          <a:lstStyle/>
          <a:p>
            <a:pPr indent="0" marL="0">
              <a:buNone/>
            </a:pPr>
            <a:r>
              <a:rPr lang="en-US" sz="1300" b="1" dirty="0">
                <a:solidFill>
                  <a:srgbClr val="00B4D8"/>
                </a:solidFill>
                <a:latin typeface="Arial" pitchFamily="34" charset="0"/>
                <a:ea typeface="Arial" pitchFamily="34" charset="-122"/>
                <a:cs typeface="Arial" pitchFamily="34" charset="-120"/>
              </a:rPr>
              <a:t>Future Work</a:t>
            </a:r>
            <a:endParaRPr lang="en-US" sz="1300" dirty="0"/>
          </a:p>
        </p:txBody>
      </p:sp>
      <p:sp>
        <p:nvSpPr>
          <p:cNvPr id="24" name="Text 15"/>
          <p:cNvSpPr/>
          <p:nvPr/>
        </p:nvSpPr>
        <p:spPr>
          <a:xfrm>
            <a:off x="4892040" y="2057400"/>
            <a:ext cx="3794760" cy="384048"/>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1.  Annotate 100 QA pairs → compute F1, Recall@k</a:t>
            </a:r>
            <a:endParaRPr lang="en-US" sz="1050" dirty="0"/>
          </a:p>
        </p:txBody>
      </p:sp>
      <p:sp>
        <p:nvSpPr>
          <p:cNvPr id="25" name="Text 16"/>
          <p:cNvSpPr/>
          <p:nvPr/>
        </p:nvSpPr>
        <p:spPr>
          <a:xfrm>
            <a:off x="4892040" y="2560320"/>
            <a:ext cx="3794760" cy="384048"/>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2.  Profile on Raspberry Pi 3B+ (real ARM HW)</a:t>
            </a:r>
            <a:endParaRPr lang="en-US" sz="1050" dirty="0"/>
          </a:p>
        </p:txBody>
      </p:sp>
      <p:sp>
        <p:nvSpPr>
          <p:cNvPr id="26" name="Text 17"/>
          <p:cNvSpPr/>
          <p:nvPr/>
        </p:nvSpPr>
        <p:spPr>
          <a:xfrm>
            <a:off x="4892040" y="3063240"/>
            <a:ext cx="3794760" cy="384048"/>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3.  Chunk size ablation: {128, 256, 512} tokens</a:t>
            </a:r>
            <a:endParaRPr lang="en-US" sz="1050" dirty="0"/>
          </a:p>
        </p:txBody>
      </p:sp>
      <p:sp>
        <p:nvSpPr>
          <p:cNvPr id="27" name="Text 18"/>
          <p:cNvSpPr/>
          <p:nvPr/>
        </p:nvSpPr>
        <p:spPr>
          <a:xfrm>
            <a:off x="4892040" y="3566160"/>
            <a:ext cx="3794760" cy="384048"/>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4.  Expand corpus to 10+ datasheets</a:t>
            </a:r>
            <a:endParaRPr lang="en-US" sz="1050" dirty="0"/>
          </a:p>
        </p:txBody>
      </p:sp>
      <p:sp>
        <p:nvSpPr>
          <p:cNvPr id="28" name="Text 19"/>
          <p:cNvSpPr/>
          <p:nvPr/>
        </p:nvSpPr>
        <p:spPr>
          <a:xfrm>
            <a:off x="4892040" y="4069080"/>
            <a:ext cx="3794760" cy="384048"/>
          </a:xfrm>
          <a:prstGeom prst="rect">
            <a:avLst/>
          </a:prstGeom>
          <a:noFill/>
          <a:ln/>
        </p:spPr>
        <p:txBody>
          <a:bodyPr wrap="square" lIns="0" tIns="0" rIns="0" bIns="0" rtlCol="0" anchor="ctr"/>
          <a:lstStyle/>
          <a:p>
            <a:pPr indent="0" marL="0">
              <a:buNone/>
            </a:pPr>
            <a:r>
              <a:rPr lang="en-US" sz="1050" dirty="0">
                <a:solidFill>
                  <a:srgbClr val="CCDDEE"/>
                </a:solidFill>
                <a:latin typeface="Arial" pitchFamily="34" charset="0"/>
                <a:ea typeface="Arial" pitchFamily="34" charset="-122"/>
                <a:cs typeface="Arial" pitchFamily="34" charset="-120"/>
              </a:rPr>
              <a:t>5.  mmap FAISS index to reduce RAM further</a:t>
            </a:r>
            <a:endParaRPr lang="en-US" sz="1050" dirty="0"/>
          </a:p>
        </p:txBody>
      </p:sp>
      <p:sp>
        <p:nvSpPr>
          <p:cNvPr id="29" name="Text 20"/>
          <p:cNvSpPr/>
          <p:nvPr/>
        </p:nvSpPr>
        <p:spPr>
          <a:xfrm>
            <a:off x="320040" y="4736592"/>
            <a:ext cx="8503920" cy="320040"/>
          </a:xfrm>
          <a:prstGeom prst="rect">
            <a:avLst/>
          </a:prstGeom>
          <a:noFill/>
          <a:ln/>
        </p:spPr>
        <p:txBody>
          <a:bodyPr wrap="square" lIns="0" tIns="0" rIns="0" bIns="0" rtlCol="0" anchor="ctr"/>
          <a:lstStyle/>
          <a:p>
            <a:pPr algn="ctr" indent="0" marL="0">
              <a:buNone/>
            </a:pPr>
            <a:r>
              <a:rPr lang="en-US" sz="950" i="1" dirty="0">
                <a:solidFill>
                  <a:srgbClr val="8899AA"/>
                </a:solidFill>
                <a:latin typeface="Arial" pitchFamily="34" charset="0"/>
                <a:ea typeface="Arial" pitchFamily="34" charset="-122"/>
                <a:cs typeface="Arial" pitchFamily="34" charset="-120"/>
              </a:rPr>
              <a:t>EdgeRAG provides a principled foundation for privacy-preserving offline AI in defense, medical, and industrial IoT domains.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200400" y="457200"/>
            <a:ext cx="2743200" cy="2743200"/>
          </a:xfrm>
          <a:prstGeom prst="ellipse">
            <a:avLst/>
          </a:prstGeom>
          <a:solidFill>
            <a:srgbClr val="1F3A5F">
              <a:alpha val="60000"/>
            </a:srgbClr>
          </a:solidFill>
          <a:ln/>
        </p:spPr>
      </p:sp>
      <p:sp>
        <p:nvSpPr>
          <p:cNvPr id="3" name="Text 1"/>
          <p:cNvSpPr/>
          <p:nvPr/>
        </p:nvSpPr>
        <p:spPr>
          <a:xfrm>
            <a:off x="457200" y="731520"/>
            <a:ext cx="8229600" cy="1097280"/>
          </a:xfrm>
          <a:prstGeom prst="rect">
            <a:avLst/>
          </a:prstGeom>
          <a:noFill/>
          <a:ln/>
        </p:spPr>
        <p:txBody>
          <a:bodyPr wrap="square" lIns="0" tIns="0" rIns="0" bIns="0" rtlCol="0" anchor="ctr"/>
          <a:lstStyle/>
          <a:p>
            <a:pPr algn="ctr" indent="0" marL="0">
              <a:buNone/>
            </a:pPr>
            <a:r>
              <a:rPr lang="en-US" sz="5200" b="1" dirty="0">
                <a:solidFill>
                  <a:srgbClr val="FFFFFF"/>
                </a:solidFill>
                <a:latin typeface="Arial" pitchFamily="34" charset="0"/>
                <a:ea typeface="Arial" pitchFamily="34" charset="-122"/>
                <a:cs typeface="Arial" pitchFamily="34" charset="-120"/>
              </a:rPr>
              <a:t>Thank You</a:t>
            </a:r>
            <a:endParaRPr lang="en-US" sz="5200" dirty="0"/>
          </a:p>
        </p:txBody>
      </p:sp>
      <p:sp>
        <p:nvSpPr>
          <p:cNvPr id="4" name="Text 2"/>
          <p:cNvSpPr/>
          <p:nvPr/>
        </p:nvSpPr>
        <p:spPr>
          <a:xfrm>
            <a:off x="457200" y="1737360"/>
            <a:ext cx="8229600" cy="640080"/>
          </a:xfrm>
          <a:prstGeom prst="rect">
            <a:avLst/>
          </a:prstGeom>
          <a:noFill/>
          <a:ln/>
        </p:spPr>
        <p:txBody>
          <a:bodyPr wrap="square" lIns="0" tIns="0" rIns="0" bIns="0" rtlCol="0" anchor="ctr"/>
          <a:lstStyle/>
          <a:p>
            <a:pPr algn="ctr" indent="0" marL="0">
              <a:buNone/>
            </a:pPr>
            <a:r>
              <a:rPr lang="en-US" sz="2800" dirty="0">
                <a:solidFill>
                  <a:srgbClr val="00B4D8"/>
                </a:solidFill>
                <a:latin typeface="Arial" pitchFamily="34" charset="0"/>
                <a:ea typeface="Arial" pitchFamily="34" charset="-122"/>
                <a:cs typeface="Arial" pitchFamily="34" charset="-120"/>
              </a:rPr>
              <a:t>Questions?</a:t>
            </a:r>
            <a:endParaRPr lang="en-US" sz="2800" dirty="0"/>
          </a:p>
        </p:txBody>
      </p:sp>
      <p:sp>
        <p:nvSpPr>
          <p:cNvPr id="5" name="Shape 3"/>
          <p:cNvSpPr/>
          <p:nvPr/>
        </p:nvSpPr>
        <p:spPr>
          <a:xfrm>
            <a:off x="3200400" y="2514600"/>
            <a:ext cx="2743200" cy="36576"/>
          </a:xfrm>
          <a:prstGeom prst="rect">
            <a:avLst/>
          </a:prstGeom>
          <a:solidFill>
            <a:srgbClr val="00B4D8"/>
          </a:solidFill>
          <a:ln/>
        </p:spPr>
      </p:sp>
      <p:sp>
        <p:nvSpPr>
          <p:cNvPr id="6" name="Text 4"/>
          <p:cNvSpPr/>
          <p:nvPr/>
        </p:nvSpPr>
        <p:spPr>
          <a:xfrm>
            <a:off x="457200" y="2743200"/>
            <a:ext cx="82296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Hüseyin Eren Doğan  ·  N25123065</a:t>
            </a:r>
            <a:endParaRPr lang="en-US" sz="1300" dirty="0"/>
          </a:p>
        </p:txBody>
      </p:sp>
      <p:sp>
        <p:nvSpPr>
          <p:cNvPr id="7" name="Text 5"/>
          <p:cNvSpPr/>
          <p:nvPr/>
        </p:nvSpPr>
        <p:spPr>
          <a:xfrm>
            <a:off x="457200" y="3090672"/>
            <a:ext cx="8229600" cy="320040"/>
          </a:xfrm>
          <a:prstGeom prst="rect">
            <a:avLst/>
          </a:prstGeom>
          <a:noFill/>
          <a:ln/>
        </p:spPr>
        <p:txBody>
          <a:bodyPr wrap="square" lIns="0" tIns="0" rIns="0" bIns="0" rtlCol="0" anchor="ctr"/>
          <a:lstStyle/>
          <a:p>
            <a:pPr algn="ctr" indent="0" marL="0">
              <a:buNone/>
            </a:pPr>
            <a:r>
              <a:rPr lang="en-US" sz="1300" dirty="0">
                <a:solidFill>
                  <a:srgbClr val="8899AA"/>
                </a:solidFill>
                <a:latin typeface="Arial" pitchFamily="34" charset="0"/>
                <a:ea typeface="Arial" pitchFamily="34" charset="-122"/>
                <a:cs typeface="Arial" pitchFamily="34" charset="-120"/>
              </a:rPr>
              <a:t>CMP720 Embedded System Design  ·  Spring 2026</a:t>
            </a:r>
            <a:endParaRPr lang="en-US" sz="1300" dirty="0"/>
          </a:p>
        </p:txBody>
      </p:sp>
      <p:sp>
        <p:nvSpPr>
          <p:cNvPr id="8" name="Text 6"/>
          <p:cNvSpPr/>
          <p:nvPr/>
        </p:nvSpPr>
        <p:spPr>
          <a:xfrm>
            <a:off x="457200" y="3438144"/>
            <a:ext cx="8229600" cy="320040"/>
          </a:xfrm>
          <a:prstGeom prst="rect">
            <a:avLst/>
          </a:prstGeom>
          <a:noFill/>
          <a:ln/>
        </p:spPr>
        <p:txBody>
          <a:bodyPr wrap="square" lIns="0" tIns="0" rIns="0" bIns="0" rtlCol="0" anchor="ctr"/>
          <a:lstStyle/>
          <a:p>
            <a:pPr algn="ctr" indent="0" marL="0">
              <a:buNone/>
            </a:pPr>
            <a:r>
              <a:rPr lang="en-US" sz="1300" dirty="0">
                <a:solidFill>
                  <a:srgbClr val="8899AA"/>
                </a:solidFill>
                <a:latin typeface="Arial" pitchFamily="34" charset="0"/>
                <a:ea typeface="Arial" pitchFamily="34" charset="-122"/>
                <a:cs typeface="Arial" pitchFamily="34" charset="-120"/>
              </a:rPr>
              <a:t>Hacettepe University  ·  Aselsan</a:t>
            </a:r>
            <a:endParaRPr lang="en-US" sz="1300" dirty="0"/>
          </a:p>
        </p:txBody>
      </p:sp>
      <p:sp>
        <p:nvSpPr>
          <p:cNvPr id="9" name="Shape 7"/>
          <p:cNvSpPr/>
          <p:nvPr/>
        </p:nvSpPr>
        <p:spPr>
          <a:xfrm>
            <a:off x="960120" y="4160520"/>
            <a:ext cx="1627632" cy="804672"/>
          </a:xfrm>
          <a:prstGeom prst="roundRect">
            <a:avLst>
              <a:gd name="adj" fmla="val 11364"/>
            </a:avLst>
          </a:prstGeom>
          <a:solidFill>
            <a:srgbClr val="1F3A5F"/>
          </a:solidFill>
          <a:ln/>
        </p:spPr>
      </p:sp>
      <p:sp>
        <p:nvSpPr>
          <p:cNvPr id="10" name="Text 8"/>
          <p:cNvSpPr/>
          <p:nvPr/>
        </p:nvSpPr>
        <p:spPr>
          <a:xfrm>
            <a:off x="960120" y="4206240"/>
            <a:ext cx="1627632" cy="384048"/>
          </a:xfrm>
          <a:prstGeom prst="rect">
            <a:avLst/>
          </a:prstGeom>
          <a:noFill/>
          <a:ln/>
        </p:spPr>
        <p:txBody>
          <a:bodyPr wrap="square" lIns="0" tIns="0" rIns="0" bIns="0" rtlCol="0" anchor="ctr"/>
          <a:lstStyle/>
          <a:p>
            <a:pPr algn="ctr" indent="0" marL="0">
              <a:buNone/>
            </a:pPr>
            <a:r>
              <a:rPr lang="en-US" sz="1800" b="1" dirty="0">
                <a:solidFill>
                  <a:srgbClr val="00B4D8"/>
                </a:solidFill>
                <a:latin typeface="Arial" pitchFamily="34" charset="0"/>
                <a:ea typeface="Arial" pitchFamily="34" charset="-122"/>
                <a:cs typeface="Arial" pitchFamily="34" charset="-120"/>
              </a:rPr>
              <a:t>2.92 t/s</a:t>
            </a:r>
            <a:endParaRPr lang="en-US" sz="1800" dirty="0"/>
          </a:p>
        </p:txBody>
      </p:sp>
      <p:sp>
        <p:nvSpPr>
          <p:cNvPr id="11" name="Text 9"/>
          <p:cNvSpPr/>
          <p:nvPr/>
        </p:nvSpPr>
        <p:spPr>
          <a:xfrm>
            <a:off x="960120" y="4572000"/>
            <a:ext cx="1627632" cy="237744"/>
          </a:xfrm>
          <a:prstGeom prst="rect">
            <a:avLst/>
          </a:prstGeom>
          <a:noFill/>
          <a:ln/>
        </p:spPr>
        <p:txBody>
          <a:bodyPr wrap="square" lIns="0" tIns="0" rIns="0" bIns="0"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Token Speed</a:t>
            </a:r>
            <a:endParaRPr lang="en-US" sz="900" dirty="0"/>
          </a:p>
        </p:txBody>
      </p:sp>
      <p:sp>
        <p:nvSpPr>
          <p:cNvPr id="12" name="Shape 10"/>
          <p:cNvSpPr/>
          <p:nvPr/>
        </p:nvSpPr>
        <p:spPr>
          <a:xfrm>
            <a:off x="2788920" y="4160520"/>
            <a:ext cx="1627632" cy="804672"/>
          </a:xfrm>
          <a:prstGeom prst="roundRect">
            <a:avLst>
              <a:gd name="adj" fmla="val 11364"/>
            </a:avLst>
          </a:prstGeom>
          <a:solidFill>
            <a:srgbClr val="1F3A5F"/>
          </a:solidFill>
          <a:ln/>
        </p:spPr>
      </p:sp>
      <p:sp>
        <p:nvSpPr>
          <p:cNvPr id="13" name="Text 11"/>
          <p:cNvSpPr/>
          <p:nvPr/>
        </p:nvSpPr>
        <p:spPr>
          <a:xfrm>
            <a:off x="2788920" y="4206240"/>
            <a:ext cx="1627632" cy="384048"/>
          </a:xfrm>
          <a:prstGeom prst="rect">
            <a:avLst/>
          </a:prstGeom>
          <a:noFill/>
          <a:ln/>
        </p:spPr>
        <p:txBody>
          <a:bodyPr wrap="square" lIns="0" tIns="0" rIns="0" bIns="0" rtlCol="0" anchor="ctr"/>
          <a:lstStyle/>
          <a:p>
            <a:pPr algn="ctr" indent="0" marL="0">
              <a:buNone/>
            </a:pPr>
            <a:r>
              <a:rPr lang="en-US" sz="1800" b="1" dirty="0">
                <a:solidFill>
                  <a:srgbClr val="00B4D8"/>
                </a:solidFill>
                <a:latin typeface="Arial" pitchFamily="34" charset="0"/>
                <a:ea typeface="Arial" pitchFamily="34" charset="-122"/>
                <a:cs typeface="Arial" pitchFamily="34" charset="-120"/>
              </a:rPr>
              <a:t>729 MB</a:t>
            </a:r>
            <a:endParaRPr lang="en-US" sz="1800" dirty="0"/>
          </a:p>
        </p:txBody>
      </p:sp>
      <p:sp>
        <p:nvSpPr>
          <p:cNvPr id="14" name="Text 12"/>
          <p:cNvSpPr/>
          <p:nvPr/>
        </p:nvSpPr>
        <p:spPr>
          <a:xfrm>
            <a:off x="2788920" y="4572000"/>
            <a:ext cx="1627632" cy="237744"/>
          </a:xfrm>
          <a:prstGeom prst="rect">
            <a:avLst/>
          </a:prstGeom>
          <a:noFill/>
          <a:ln/>
        </p:spPr>
        <p:txBody>
          <a:bodyPr wrap="square" lIns="0" tIns="0" rIns="0" bIns="0"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Peak RAM</a:t>
            </a:r>
            <a:endParaRPr lang="en-US" sz="900" dirty="0"/>
          </a:p>
        </p:txBody>
      </p:sp>
      <p:sp>
        <p:nvSpPr>
          <p:cNvPr id="15" name="Shape 13"/>
          <p:cNvSpPr/>
          <p:nvPr/>
        </p:nvSpPr>
        <p:spPr>
          <a:xfrm>
            <a:off x="4617720" y="4160520"/>
            <a:ext cx="1627632" cy="804672"/>
          </a:xfrm>
          <a:prstGeom prst="roundRect">
            <a:avLst>
              <a:gd name="adj" fmla="val 11364"/>
            </a:avLst>
          </a:prstGeom>
          <a:solidFill>
            <a:srgbClr val="1F3A5F"/>
          </a:solidFill>
          <a:ln/>
        </p:spPr>
      </p:sp>
      <p:sp>
        <p:nvSpPr>
          <p:cNvPr id="16" name="Text 14"/>
          <p:cNvSpPr/>
          <p:nvPr/>
        </p:nvSpPr>
        <p:spPr>
          <a:xfrm>
            <a:off x="4617720" y="4206240"/>
            <a:ext cx="1627632" cy="384048"/>
          </a:xfrm>
          <a:prstGeom prst="rect">
            <a:avLst/>
          </a:prstGeom>
          <a:noFill/>
          <a:ln/>
        </p:spPr>
        <p:txBody>
          <a:bodyPr wrap="square" lIns="0" tIns="0" rIns="0" bIns="0" rtlCol="0" anchor="ctr"/>
          <a:lstStyle/>
          <a:p>
            <a:pPr algn="ctr" indent="0" marL="0">
              <a:buNone/>
            </a:pPr>
            <a:r>
              <a:rPr lang="en-US" sz="1800" b="1" dirty="0">
                <a:solidFill>
                  <a:srgbClr val="00B4D8"/>
                </a:solidFill>
                <a:latin typeface="Arial" pitchFamily="34" charset="0"/>
                <a:ea typeface="Arial" pitchFamily="34" charset="-122"/>
                <a:cs typeface="Arial" pitchFamily="34" charset="-120"/>
              </a:rPr>
              <a:t>58.6 s</a:t>
            </a:r>
            <a:endParaRPr lang="en-US" sz="1800" dirty="0"/>
          </a:p>
        </p:txBody>
      </p:sp>
      <p:sp>
        <p:nvSpPr>
          <p:cNvPr id="17" name="Text 15"/>
          <p:cNvSpPr/>
          <p:nvPr/>
        </p:nvSpPr>
        <p:spPr>
          <a:xfrm>
            <a:off x="4617720" y="4572000"/>
            <a:ext cx="1627632" cy="237744"/>
          </a:xfrm>
          <a:prstGeom prst="rect">
            <a:avLst/>
          </a:prstGeom>
          <a:noFill/>
          <a:ln/>
        </p:spPr>
        <p:txBody>
          <a:bodyPr wrap="square" lIns="0" tIns="0" rIns="0" bIns="0"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Avg Latency</a:t>
            </a:r>
            <a:endParaRPr lang="en-US" sz="900" dirty="0"/>
          </a:p>
        </p:txBody>
      </p:sp>
      <p:sp>
        <p:nvSpPr>
          <p:cNvPr id="18" name="Shape 16"/>
          <p:cNvSpPr/>
          <p:nvPr/>
        </p:nvSpPr>
        <p:spPr>
          <a:xfrm>
            <a:off x="6446520" y="4160520"/>
            <a:ext cx="1627632" cy="804672"/>
          </a:xfrm>
          <a:prstGeom prst="roundRect">
            <a:avLst>
              <a:gd name="adj" fmla="val 11364"/>
            </a:avLst>
          </a:prstGeom>
          <a:solidFill>
            <a:srgbClr val="1F3A5F"/>
          </a:solidFill>
          <a:ln/>
        </p:spPr>
      </p:sp>
      <p:sp>
        <p:nvSpPr>
          <p:cNvPr id="19" name="Text 17"/>
          <p:cNvSpPr/>
          <p:nvPr/>
        </p:nvSpPr>
        <p:spPr>
          <a:xfrm>
            <a:off x="6446520" y="4206240"/>
            <a:ext cx="1627632" cy="384048"/>
          </a:xfrm>
          <a:prstGeom prst="rect">
            <a:avLst/>
          </a:prstGeom>
          <a:noFill/>
          <a:ln/>
        </p:spPr>
        <p:txBody>
          <a:bodyPr wrap="square" lIns="0" tIns="0" rIns="0" bIns="0" rtlCol="0" anchor="ctr"/>
          <a:lstStyle/>
          <a:p>
            <a:pPr algn="ctr" indent="0" marL="0">
              <a:buNone/>
            </a:pPr>
            <a:r>
              <a:rPr lang="en-US" sz="1800" b="1" dirty="0">
                <a:solidFill>
                  <a:srgbClr val="00B4D8"/>
                </a:solidFill>
                <a:latin typeface="Arial" pitchFamily="34" charset="0"/>
                <a:ea typeface="Arial" pitchFamily="34" charset="-122"/>
                <a:cs typeface="Arial" pitchFamily="34" charset="-120"/>
              </a:rPr>
              <a:t>0%</a:t>
            </a:r>
            <a:endParaRPr lang="en-US" sz="1800" dirty="0"/>
          </a:p>
        </p:txBody>
      </p:sp>
      <p:sp>
        <p:nvSpPr>
          <p:cNvPr id="20" name="Text 18"/>
          <p:cNvSpPr/>
          <p:nvPr/>
        </p:nvSpPr>
        <p:spPr>
          <a:xfrm>
            <a:off x="6446520" y="4572000"/>
            <a:ext cx="1627632" cy="237744"/>
          </a:xfrm>
          <a:prstGeom prst="rect">
            <a:avLst/>
          </a:prstGeom>
          <a:noFill/>
          <a:ln/>
        </p:spPr>
        <p:txBody>
          <a:bodyPr wrap="square" lIns="0" tIns="0" rIns="0" bIns="0"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OOM Rate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EdgeRAG — CMP720 Final Presentation</dc:title>
  <dc:subject>PptxGenJS Presentation</dc:subject>
  <dc:creator>Hüseyin Eren Doğan</dc:creator>
  <cp:lastModifiedBy>Hüseyin Eren Doğan</cp:lastModifiedBy>
  <cp:revision>1</cp:revision>
  <dcterms:created xsi:type="dcterms:W3CDTF">2026-06-14T19:47:38Z</dcterms:created>
  <dcterms:modified xsi:type="dcterms:W3CDTF">2026-06-14T19:47:38Z</dcterms:modified>
</cp:coreProperties>
</file>