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9235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13716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1371600"/>
            <a:ext cx="16459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74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B4D8"/>
                </a:solidFill>
                <a:latin typeface="Bahnschrift SemiLight SemiConde" panose="020B0502040204020203" pitchFamily="34" charset="0"/>
                <a:ea typeface="Calibri" pitchFamily="34" charset="-122"/>
                <a:cs typeface="Calibri" pitchFamily="34" charset="-120"/>
              </a:rPr>
              <a:t>CMP720 Embedded System Design — Spring</a:t>
            </a:r>
            <a:r>
              <a:rPr lang="tr-TR" sz="1500" dirty="0">
                <a:solidFill>
                  <a:srgbClr val="00B4D8"/>
                </a:solidFill>
                <a:latin typeface="Bahnschrift SemiLight SemiConde" panose="020B0502040204020203" pitchFamily="34" charset="0"/>
                <a:ea typeface="Calibri" pitchFamily="34" charset="-122"/>
                <a:cs typeface="Calibri" pitchFamily="34" charset="-120"/>
              </a:rPr>
              <a:t>’</a:t>
            </a:r>
            <a:r>
              <a:rPr lang="en-US" sz="1500" dirty="0">
                <a:solidFill>
                  <a:srgbClr val="00B4D8"/>
                </a:solidFill>
                <a:latin typeface="Bahnschrift SemiLight SemiConde" panose="020B0502040204020203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500" dirty="0">
              <a:latin typeface="Bahnschrift SemiLight SemiConde" panose="020B0502040204020203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99533" y="1805093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Bahnschrift" panose="020B0502040204020203" pitchFamily="34" charset="0"/>
                <a:ea typeface="Calibri Light" pitchFamily="34" charset="-122"/>
                <a:cs typeface="Calibri Light" pitchFamily="34" charset="-120"/>
              </a:rPr>
              <a:t>EdgeRAG</a:t>
            </a:r>
            <a:endParaRPr lang="en-US" sz="6000" dirty="0">
              <a:latin typeface="Bahnschrift" panose="020B0502040204020203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99533" y="2856653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BD5E1"/>
                </a:solidFill>
                <a:latin typeface="Bahnschrift Light Condensed" panose="020B0502040204020203" pitchFamily="34" charset="0"/>
                <a:ea typeface="Calibri Light" pitchFamily="34" charset="-122"/>
                <a:cs typeface="Calibri Light" pitchFamily="34" charset="-120"/>
              </a:rPr>
              <a:t>Offline Retrieval-Augmented Generation</a:t>
            </a:r>
            <a:endParaRPr lang="en-US" sz="2000" dirty="0">
              <a:latin typeface="Bahnschrift Light Condensed" panose="020B0502040204020203" pitchFamily="34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CBD5E1"/>
                </a:solidFill>
                <a:latin typeface="Bahnschrift Light Condensed" panose="020B0502040204020203" pitchFamily="34" charset="0"/>
                <a:ea typeface="Calibri Light" pitchFamily="34" charset="-122"/>
                <a:cs typeface="Calibri Light" pitchFamily="34" charset="-120"/>
              </a:rPr>
              <a:t>on Resource-Constrained Simulated ARM Architectures</a:t>
            </a:r>
            <a:endParaRPr lang="en-US" sz="2000" dirty="0">
              <a:latin typeface="Bahnschrift Light Condensed" panose="020B0502040204020203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99533" y="3908213"/>
            <a:ext cx="41148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9533" y="4045373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Hüseyin Eren Doğan</a:t>
            </a:r>
            <a:r>
              <a:rPr lang="tr-TR" sz="1300" dirty="0">
                <a:solidFill>
                  <a:srgbClr val="CBD5E1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        </a:t>
            </a:r>
            <a:r>
              <a:rPr lang="en-US" sz="1300" dirty="0">
                <a:solidFill>
                  <a:srgbClr val="CBD5E1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|   </a:t>
            </a:r>
            <a:r>
              <a:rPr lang="tr-TR" sz="1300" dirty="0">
                <a:solidFill>
                  <a:srgbClr val="CBD5E1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     </a:t>
            </a:r>
            <a:r>
              <a:rPr lang="en-US" sz="1300" dirty="0">
                <a:solidFill>
                  <a:srgbClr val="CBD5E1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N25123065</a:t>
            </a:r>
            <a:endParaRPr lang="en-US" sz="1300" dirty="0">
              <a:latin typeface="Bahnschrift Light" panose="020B050204020402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99533" y="4411133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Hacettepe University </a:t>
            </a:r>
            <a:r>
              <a:rPr lang="tr-TR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|           Aselsan 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>
              <a:latin typeface="Bahnschrift Light" panose="020B0502040204020203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023360" cy="1097280"/>
          </a:xfrm>
          <a:prstGeom prst="rect">
            <a:avLst/>
          </a:prstGeom>
          <a:solidFill>
            <a:srgbClr val="1B2A3B"/>
          </a:solidFill>
          <a:ln w="127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502920" cy="10972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>
              <a:latin typeface="Bahnschrift Light" panose="020B0502040204020203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60120" y="10058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Overview &amp; Motivation</a:t>
            </a:r>
            <a:endParaRPr lang="en-US" sz="1300" dirty="0">
              <a:latin typeface="Bahnschrift Light" panose="020B050204020402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60120" y="139903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The cloud dependency problem</a:t>
            </a:r>
            <a:endParaRPr lang="en-US" sz="1100" dirty="0">
              <a:latin typeface="Bahnschrift Light" panose="020B0502040204020203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663440" y="868680"/>
            <a:ext cx="4023360" cy="1097280"/>
          </a:xfrm>
          <a:prstGeom prst="rect">
            <a:avLst/>
          </a:prstGeom>
          <a:solidFill>
            <a:srgbClr val="1B2A3B"/>
          </a:solidFill>
          <a:ln w="127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868680"/>
            <a:ext cx="502920" cy="10972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86868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57800" y="10058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1300" dirty="0">
              <a:latin typeface="Bahnschrift Light" panose="020B0502040204020203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257800" y="139903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Objectives, constraints &amp; success criteria</a:t>
            </a:r>
            <a:endParaRPr lang="en-US" sz="1100" dirty="0">
              <a:latin typeface="Bahnschrift Light" panose="020B0502040204020203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65760" y="2194560"/>
            <a:ext cx="4023360" cy="1097280"/>
          </a:xfrm>
          <a:prstGeom prst="rect">
            <a:avLst/>
          </a:prstGeom>
          <a:solidFill>
            <a:srgbClr val="1B2A3B"/>
          </a:solidFill>
          <a:ln w="127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194560"/>
            <a:ext cx="502920" cy="10972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19456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>
              <a:latin typeface="Bahnschrift Light" panose="020B0502040204020203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60120" y="23317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1300" dirty="0">
              <a:latin typeface="Bahnschrift Light" panose="020B0502040204020203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60120" y="272491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RAG, edge LLMs, vector DBs, QEMU</a:t>
            </a:r>
            <a:endParaRPr lang="en-US" sz="1100" dirty="0">
              <a:latin typeface="Bahnschrift Light" panose="020B050204020402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663440" y="2194560"/>
            <a:ext cx="4023360" cy="1097280"/>
          </a:xfrm>
          <a:prstGeom prst="rect">
            <a:avLst/>
          </a:prstGeom>
          <a:solidFill>
            <a:srgbClr val="1B2A3B"/>
          </a:solidFill>
          <a:ln w="127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194560"/>
            <a:ext cx="502920" cy="10972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19456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>
              <a:latin typeface="Bahnschrift Light" panose="020B0502040204020203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257800" y="23317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>
              <a:latin typeface="Bahnschrift Light" panose="020B0502040204020203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257800" y="272491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Architecture, MoC, memory management</a:t>
            </a:r>
            <a:endParaRPr lang="en-US" sz="1100" dirty="0">
              <a:latin typeface="Bahnschrift Light" panose="020B0502040204020203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65760" y="3520440"/>
            <a:ext cx="4023360" cy="1097280"/>
          </a:xfrm>
          <a:prstGeom prst="rect">
            <a:avLst/>
          </a:prstGeom>
          <a:solidFill>
            <a:srgbClr val="1B2A3B"/>
          </a:solidFill>
          <a:ln w="127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520440"/>
            <a:ext cx="502920" cy="10972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52044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>
              <a:latin typeface="Bahnschrift Light" panose="020B0502040204020203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60120" y="36576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Evaluation Plan</a:t>
            </a:r>
            <a:endParaRPr lang="en-US" sz="1300" dirty="0">
              <a:latin typeface="Bahnschrift Light" panose="020B0502040204020203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60120" y="405079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Metrics, dataset, experimental conditions</a:t>
            </a:r>
            <a:endParaRPr lang="en-US" sz="1100" dirty="0">
              <a:latin typeface="Bahnschrift Light" panose="020B0502040204020203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663440" y="3520440"/>
            <a:ext cx="4023360" cy="1097280"/>
          </a:xfrm>
          <a:prstGeom prst="rect">
            <a:avLst/>
          </a:prstGeom>
          <a:solidFill>
            <a:srgbClr val="1B2A3B"/>
          </a:solidFill>
          <a:ln w="127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3520440"/>
            <a:ext cx="502920" cy="10972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352044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>
              <a:latin typeface="Bahnschrift Light" panose="020B0502040204020203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257800" y="36576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ESD Considerations</a:t>
            </a:r>
            <a:endParaRPr lang="en-US" sz="1300" dirty="0">
              <a:latin typeface="Bahnschrift Light" panose="020B0502040204020203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257800" y="405079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Security, reliability, scheduling</a:t>
            </a:r>
            <a:endParaRPr lang="en-US" sz="1100" dirty="0">
              <a:latin typeface="Bahnschrift Light" panose="020B0502040204020203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D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Bahnschrift SemiBold" panose="020B0502040204020203" pitchFamily="34" charset="0"/>
                <a:ea typeface="Calibri" pitchFamily="34" charset="-122"/>
                <a:cs typeface="Calibri" pitchFamily="34" charset="-120"/>
              </a:rPr>
              <a:t>01 — Overview &amp; Motivation</a:t>
            </a:r>
            <a:endParaRPr lang="en-US" sz="2200" dirty="0">
              <a:latin typeface="Bahnschrift SemiBold" panose="020B0502040204020203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B2A3B"/>
                </a:solidFill>
                <a:latin typeface="Bahnschrift Light Condensed" panose="020B0502040204020203" pitchFamily="34" charset="0"/>
                <a:ea typeface="Calibri Light" pitchFamily="34" charset="-122"/>
                <a:cs typeface="Calibri Light" pitchFamily="34" charset="-120"/>
              </a:rPr>
              <a:t>"Modern AI question-answering depends entirely on cloud connectivity — </a:t>
            </a:r>
            <a:endParaRPr lang="tr-TR" sz="1600" i="1" dirty="0">
              <a:solidFill>
                <a:srgbClr val="1B2A3B"/>
              </a:solidFill>
              <a:latin typeface="Bahnschrift Light Condensed" panose="020B0502040204020203" pitchFamily="34" charset="0"/>
              <a:ea typeface="Calibri Light" pitchFamily="34" charset="-122"/>
              <a:cs typeface="Calibri Light" pitchFamily="34" charset="-120"/>
            </a:endParaRPr>
          </a:p>
          <a:p>
            <a:pPr marL="0" indent="0" algn="ctr">
              <a:buNone/>
            </a:pPr>
            <a:r>
              <a:rPr lang="en-US" sz="1600" i="1" dirty="0">
                <a:solidFill>
                  <a:srgbClr val="1B2A3B"/>
                </a:solidFill>
                <a:latin typeface="Bahnschrift Light Condensed" panose="020B0502040204020203" pitchFamily="34" charset="0"/>
                <a:ea typeface="Calibri Light" pitchFamily="34" charset="-122"/>
                <a:cs typeface="Calibri Light" pitchFamily="34" charset="-120"/>
              </a:rPr>
              <a:t>but many critical environments can't or won't connect."</a:t>
            </a:r>
            <a:endParaRPr lang="en-US" sz="1600" dirty="0">
              <a:latin typeface="Bahnschrift Light Condensed" panose="020B0502040204020203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1965960"/>
            <a:ext cx="26517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965960"/>
            <a:ext cx="265176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1031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🔌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75488" y="265176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3B"/>
                </a:solidFill>
                <a:latin typeface="Bahnschrift SemiBold SemiConden" panose="020B0502040204020203" pitchFamily="34" charset="0"/>
                <a:ea typeface="Calibri" pitchFamily="34" charset="-122"/>
                <a:cs typeface="Calibri" pitchFamily="34" charset="-120"/>
              </a:rPr>
              <a:t>Air-Gapped Networks</a:t>
            </a:r>
            <a:endParaRPr lang="en-US" sz="1300" dirty="0">
              <a:latin typeface="Bahnschrift SemiBold SemiConden" panose="020B050204020402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920" y="30632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Defense, industrial IoT, remote infrastructure — no internet access at all.</a:t>
            </a:r>
            <a:endParaRPr lang="en-US" sz="1150" dirty="0">
              <a:latin typeface="Bahnschrift Light SemiCondensed" panose="020B0502040204020203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46120" y="1965960"/>
            <a:ext cx="26517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965960"/>
            <a:ext cx="265176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21031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55848" y="265176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3B"/>
                </a:solidFill>
                <a:latin typeface="Bahnschrift SemiBold SemiConden" panose="020B0502040204020203" pitchFamily="34" charset="0"/>
                <a:ea typeface="Calibri" pitchFamily="34" charset="-122"/>
                <a:cs typeface="Calibri" pitchFamily="34" charset="-120"/>
              </a:rPr>
              <a:t>Privacy-Critical Systems</a:t>
            </a:r>
            <a:endParaRPr lang="en-US" sz="1300" dirty="0">
              <a:latin typeface="Bahnschrift SemiBold SemiConden" panose="020B05020402040202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383280" y="30632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Medical devices, legal analysis — data must never leave the device.</a:t>
            </a:r>
            <a:endParaRPr lang="en-US" sz="1150" dirty="0">
              <a:latin typeface="Bahnschrift Light SemiCondensed" panose="020B0502040204020203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126480" y="1965960"/>
            <a:ext cx="26517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965960"/>
            <a:ext cx="265176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21031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236208" y="265176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3B"/>
                </a:solidFill>
                <a:latin typeface="Bahnschrift SemiBold SemiConden" panose="020B0502040204020203" pitchFamily="34" charset="0"/>
                <a:ea typeface="Calibri" pitchFamily="34" charset="-122"/>
                <a:cs typeface="Calibri" pitchFamily="34" charset="-120"/>
              </a:rPr>
              <a:t>Energy-Constrained Edge</a:t>
            </a:r>
            <a:endParaRPr lang="en-US" sz="1300" dirty="0">
              <a:latin typeface="Bahnschrift SemiBold SemiConden" panose="020B050204020402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263640" y="30632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Constant cloud round-trips drain power on remote sensors and robots.</a:t>
            </a:r>
            <a:endParaRPr lang="en-US" sz="1150" dirty="0">
              <a:latin typeface="Bahnschrift Light SemiCondensed" panose="020B0502040204020203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434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4D8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→  EdgeRAG: a fully offline RAG pipeline that runs on constrained embedded hardware — no cloud required.</a:t>
            </a:r>
            <a:endParaRPr lang="en-US" sz="1250" dirty="0">
              <a:latin typeface="Bahnschrift Light SemiCondensed" panose="020B0502040204020203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D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Bahnschrift SemiBold" panose="020B0502040204020203" pitchFamily="34" charset="0"/>
                <a:ea typeface="Calibri" pitchFamily="34" charset="-122"/>
                <a:cs typeface="Calibri" pitchFamily="34" charset="-120"/>
              </a:rPr>
              <a:t>02 — Problem Definition</a:t>
            </a:r>
            <a:endParaRPr lang="en-US" sz="2200" dirty="0">
              <a:latin typeface="Bahnschrift SemiBold" panose="020B0502040204020203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9260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2926080" cy="38404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Target Platform</a:t>
            </a:r>
            <a:endParaRPr lang="en-US" sz="1300" dirty="0">
              <a:latin typeface="Bahnschrift Light SemiCondensed" panose="020B050204020402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2697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▸  QEMU — ARM Cortex-A53 (AArch64)</a:t>
            </a:r>
            <a:endParaRPr lang="en-US" sz="1050" dirty="0">
              <a:latin typeface="Bahnschrift Light SemiCondensed" panose="020B0502040204020203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1801368"/>
            <a:ext cx="2697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▸  Ubuntu 22.04 LTS (minimal)</a:t>
            </a:r>
            <a:endParaRPr lang="en-US" sz="1050" dirty="0">
              <a:latin typeface="Bahnschrift Light SemiCondensed" panose="020B050204020402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920" y="2139696"/>
            <a:ext cx="2697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▸  2 GB RAM  (hard ceiling)</a:t>
            </a:r>
            <a:endParaRPr lang="en-US" sz="1050" dirty="0">
              <a:latin typeface="Bahnschrift Light SemiCondensed" panose="020B0502040204020203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2920" y="2478024"/>
            <a:ext cx="2697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▸  2 virtual CPU cores @ 1 GHz</a:t>
            </a:r>
            <a:endParaRPr lang="en-US" sz="1050" dirty="0">
              <a:latin typeface="Bahnschrift Light SemiCondensed" panose="020B050204020402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2920" y="2816352"/>
            <a:ext cx="2697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▸  No network access (-net none)</a:t>
            </a:r>
            <a:endParaRPr lang="en-US" sz="1050" dirty="0">
              <a:latin typeface="Bahnschrift Light SemiCondensed" panose="020B0502040204020203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2920" y="3154680"/>
            <a:ext cx="2697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▸  Phi-3 Mini Q4_K_M GGUF</a:t>
            </a:r>
            <a:endParaRPr lang="en-US" sz="1050" dirty="0">
              <a:latin typeface="Bahnschrift Light SemiCondensed" panose="020B0502040204020203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02920" y="3493008"/>
            <a:ext cx="2697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▸  FAISS flat L2 index</a:t>
            </a:r>
            <a:endParaRPr lang="en-US" sz="1050" dirty="0">
              <a:latin typeface="Bahnschrift Light SemiCondensed" panose="020B05020402040202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02920" y="3831336"/>
            <a:ext cx="2697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▸  LangChain orchestrator</a:t>
            </a:r>
            <a:endParaRPr lang="en-US" sz="1050" dirty="0">
              <a:latin typeface="Bahnschrift Light SemiCondensed" panose="020B050204020402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520440" y="98755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Objectives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520440" y="1371600"/>
            <a:ext cx="98755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520440" y="1371600"/>
            <a:ext cx="987552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20440" y="1371600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O1</a:t>
            </a:r>
            <a:endParaRPr lang="en-US" sz="1200" dirty="0">
              <a:latin typeface="Bahnschrift Light SemiCondensed" panose="020B050204020402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557016" y="1737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000" dirty="0">
              <a:latin typeface="Bahnschrift Light SemiCondensed" panose="020B0502040204020203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557016" y="20848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4D8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≤ 60 s</a:t>
            </a:r>
            <a:endParaRPr lang="en-US" sz="1500" dirty="0">
              <a:latin typeface="Bahnschrift Light SemiCondensed" panose="020B0502040204020203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557016" y="25603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end-to-end per query</a:t>
            </a:r>
            <a:endParaRPr lang="en-US" sz="900" dirty="0">
              <a:latin typeface="Bahnschrift Light SemiCondensed" panose="020B0502040204020203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553712" y="1371600"/>
            <a:ext cx="98755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53712" y="1371600"/>
            <a:ext cx="987552" cy="3200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53712" y="1371600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90288" y="1737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000" dirty="0">
              <a:latin typeface="Bahnschrift Light SemiCondensed" panose="020B0502040204020203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590288" y="20848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77B6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≤ 1.8 GB</a:t>
            </a:r>
            <a:endParaRPr lang="en-US" sz="1500" dirty="0">
              <a:latin typeface="Bahnschrift Light SemiCondensed" panose="020B0502040204020203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590288" y="25603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peak RAM across stages</a:t>
            </a:r>
            <a:endParaRPr lang="en-US" sz="900" dirty="0">
              <a:latin typeface="Bahnschrift Light SemiCondensed" panose="020B0502040204020203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586984" y="1371600"/>
            <a:ext cx="98755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586984" y="1371600"/>
            <a:ext cx="987552" cy="3200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86984" y="1371600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623560" y="1737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623560" y="20848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C55E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0 OOM</a:t>
            </a:r>
            <a:endParaRPr lang="en-US" sz="1500" dirty="0">
              <a:latin typeface="Bahnschrift Light SemiCondensed" panose="020B0502040204020203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623560" y="25603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failures on test set</a:t>
            </a:r>
            <a:endParaRPr lang="en-US" sz="900" dirty="0">
              <a:latin typeface="Bahnschrift Light SemiCondensed" panose="020B0502040204020203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620256" y="1371600"/>
            <a:ext cx="98755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620256" y="1371600"/>
            <a:ext cx="987552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20256" y="1371600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O4</a:t>
            </a:r>
            <a:endParaRPr lang="en-US" sz="1200" dirty="0">
              <a:latin typeface="Bahnschrift Light SemiCondensed" panose="020B0502040204020203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656832" y="1737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1000" dirty="0">
              <a:latin typeface="Bahnschrift Light SemiCondensed" panose="020B0502040204020203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656832" y="20848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≥ 0.5 t/s</a:t>
            </a:r>
            <a:endParaRPr lang="en-US" sz="1500" dirty="0">
              <a:latin typeface="Bahnschrift Light SemiCondensed" panose="020B0502040204020203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656832" y="25603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token generation rate</a:t>
            </a:r>
            <a:endParaRPr lang="en-US" sz="900" dirty="0">
              <a:latin typeface="Bahnschrift Light SemiCondensed" panose="020B0502040204020203" pitchFamily="34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7653528" y="1371600"/>
            <a:ext cx="98755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653528" y="1371600"/>
            <a:ext cx="987552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53528" y="1371600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O5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690104" y="1737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QA Quality</a:t>
            </a:r>
            <a:endParaRPr lang="en-US" sz="1000" dirty="0">
              <a:latin typeface="Bahnschrift Light SemiCondensed" panose="020B0502040204020203" pitchFamily="34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7690104" y="20848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4D8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F1 ≥ 0.40</a:t>
            </a:r>
            <a:endParaRPr lang="en-US" sz="1500" dirty="0">
              <a:latin typeface="Bahnschrift Light SemiCondensed" panose="020B0502040204020203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690104" y="25603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Recall@3 ≥ 0.65</a:t>
            </a:r>
            <a:endParaRPr lang="en-US" sz="900" dirty="0">
              <a:latin typeface="Bahnschrift Light SemiCondensed" panose="020B0502040204020203" pitchFamily="34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3520440" y="3840480"/>
            <a:ext cx="5257800" cy="64008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3611880" y="384048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Bahnschrift Light Condensed" panose="020B0502040204020203" pitchFamily="34" charset="0"/>
                <a:ea typeface="Calibri" pitchFamily="34" charset="-122"/>
                <a:cs typeface="Calibri" pitchFamily="34" charset="-120"/>
              </a:rPr>
              <a:t>✓  Success = ≥ 95% queries completed without OOM, within latency budget, meeting QA thresholds</a:t>
            </a:r>
            <a:endParaRPr lang="en-US" sz="1100" dirty="0">
              <a:latin typeface="Bahnschrift Light Condensed" panose="020B0502040204020203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D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Bahnschrift SemiBold" panose="020B0502040204020203" pitchFamily="34" charset="0"/>
                <a:ea typeface="Calibri" pitchFamily="34" charset="-122"/>
                <a:cs typeface="Calibri" pitchFamily="34" charset="-120"/>
              </a:rPr>
              <a:t>03 — Related Work</a:t>
            </a:r>
            <a:endParaRPr lang="en-US" sz="2200" dirty="0">
              <a:latin typeface="Bahnschrift SemiBold" panose="020B0502040204020203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109728" cy="1737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0972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Bahnschrift SemiLight" panose="020B0502040204020203" pitchFamily="34" charset="0"/>
                <a:ea typeface="Calibri" pitchFamily="34" charset="-122"/>
                <a:cs typeface="Calibri" pitchFamily="34" charset="-120"/>
              </a:rPr>
              <a:t>RAG (Lewis et al., 2020)</a:t>
            </a:r>
            <a:endParaRPr lang="en-US" sz="1200" dirty="0">
              <a:latin typeface="Bahnschrift SemiLight" panose="020B050204020402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66928" y="14813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Bahnschrift SemiLight" panose="020B0502040204020203" pitchFamily="34" charset="0"/>
                <a:ea typeface="Calibri" pitchFamily="34" charset="-122"/>
                <a:cs typeface="Calibri" pitchFamily="34" charset="-120"/>
              </a:rPr>
              <a:t>•  Non-parametric memory + LLM generation</a:t>
            </a:r>
            <a:endParaRPr lang="en-US" sz="1050" dirty="0">
              <a:latin typeface="Bahnschrift SemiLight" panose="020B0502040204020203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66928" y="18745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Bahnschrift SemiLight" panose="020B0502040204020203" pitchFamily="34" charset="0"/>
                <a:ea typeface="Calibri" pitchFamily="34" charset="-122"/>
                <a:cs typeface="Calibri" pitchFamily="34" charset="-120"/>
              </a:rPr>
              <a:t>•  Grounded answers without larger models</a:t>
            </a:r>
            <a:endParaRPr lang="en-US" sz="1050" dirty="0">
              <a:latin typeface="Bahnschrift SemiLight" panose="020B050204020402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66928" y="22677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Bahnschrift SemiLight" panose="020B0502040204020203" pitchFamily="34" charset="0"/>
                <a:ea typeface="Calibri" pitchFamily="34" charset="-122"/>
                <a:cs typeface="Calibri" pitchFamily="34" charset="-120"/>
              </a:rPr>
              <a:t>•  Gap: assumes GPU / server hardware</a:t>
            </a:r>
            <a:endParaRPr lang="en-US" sz="1050" dirty="0">
              <a:latin typeface="Bahnschrift SemiLight" panose="020B0502040204020203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0" y="100584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1005840"/>
            <a:ext cx="109728" cy="1737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10972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Bahnschrift SemiLight" panose="020B0502040204020203" pitchFamily="34" charset="0"/>
                <a:ea typeface="Calibri" pitchFamily="34" charset="-122"/>
                <a:cs typeface="Calibri" pitchFamily="34" charset="-120"/>
              </a:rPr>
              <a:t>Quantization — QLoRA / GGUF</a:t>
            </a:r>
            <a:endParaRPr lang="en-US" sz="1200" dirty="0">
              <a:latin typeface="Bahnschrift SemiLight" panose="020B0502040204020203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773168" y="14813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Bahnschrift SemiLight" panose="020B0502040204020203" pitchFamily="34" charset="0"/>
                <a:ea typeface="Calibri" pitchFamily="34" charset="-122"/>
                <a:cs typeface="Calibri" pitchFamily="34" charset="-120"/>
              </a:rPr>
              <a:t>•  4-bit quant: 4× memory reduction</a:t>
            </a:r>
            <a:endParaRPr lang="en-US" sz="1050" dirty="0">
              <a:latin typeface="Bahnschrift SemiLight" panose="020B05020402040202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773168" y="18745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Bahnschrift SemiLight" panose="020B0502040204020203" pitchFamily="34" charset="0"/>
                <a:ea typeface="Calibri" pitchFamily="34" charset="-122"/>
                <a:cs typeface="Calibri" pitchFamily="34" charset="-120"/>
              </a:rPr>
              <a:t>•  llama.cpp: CPU-only GGUF inference</a:t>
            </a:r>
            <a:endParaRPr lang="en-US" sz="1050" dirty="0">
              <a:latin typeface="Bahnschrift SemiLight" panose="020B050204020402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773168" y="22677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Bahnschrift SemiLight" panose="020B0502040204020203" pitchFamily="34" charset="0"/>
                <a:ea typeface="Calibri" pitchFamily="34" charset="-122"/>
                <a:cs typeface="Calibri" pitchFamily="34" charset="-120"/>
              </a:rPr>
              <a:t>•  Enables Phi-3 Mini on ≤ 2 GB RAM</a:t>
            </a:r>
            <a:endParaRPr lang="en-US" sz="1050" dirty="0">
              <a:latin typeface="Bahnschrift SemiLight" panose="020B0502040204020203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65760" y="297180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971800"/>
            <a:ext cx="109728" cy="1737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0632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Bahnschrift SemiLight" panose="020B0502040204020203" pitchFamily="34" charset="0"/>
                <a:ea typeface="Calibri" pitchFamily="34" charset="-122"/>
                <a:cs typeface="Calibri" pitchFamily="34" charset="-120"/>
              </a:rPr>
              <a:t>Edge AI (Lin &amp; Chen, 2023)</a:t>
            </a:r>
            <a:endParaRPr lang="en-US" sz="1200" dirty="0">
              <a:latin typeface="Bahnschrift SemiLight" panose="020B050204020402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66928" y="34472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Bahnschrift SemiLight" panose="020B0502040204020203" pitchFamily="34" charset="0"/>
                <a:ea typeface="Calibri" pitchFamily="34" charset="-122"/>
                <a:cs typeface="Calibri" pitchFamily="34" charset="-120"/>
              </a:rPr>
              <a:t>•  On-device LLM inference benchmarks</a:t>
            </a:r>
            <a:endParaRPr lang="en-US" sz="1050" dirty="0">
              <a:latin typeface="Bahnschrift SemiLight" panose="020B0502040204020203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66928" y="38404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Bahnschrift SemiLight" panose="020B0502040204020203" pitchFamily="34" charset="0"/>
                <a:ea typeface="Calibri" pitchFamily="34" charset="-122"/>
                <a:cs typeface="Calibri" pitchFamily="34" charset="-120"/>
              </a:rPr>
              <a:t>•  1B models viable at 4 GB RAM baseline</a:t>
            </a:r>
            <a:endParaRPr lang="en-US" sz="1050" dirty="0">
              <a:latin typeface="Bahnschrift SemiLight" panose="020B0502040204020203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66928" y="42336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Bahnschrift SemiLight" panose="020B0502040204020203" pitchFamily="34" charset="0"/>
                <a:ea typeface="Calibri" pitchFamily="34" charset="-122"/>
                <a:cs typeface="Calibri" pitchFamily="34" charset="-120"/>
              </a:rPr>
              <a:t>•  Feasibility baseline for EdgeRAG</a:t>
            </a:r>
            <a:endParaRPr lang="en-US" sz="1050" dirty="0">
              <a:latin typeface="Bahnschrift SemiLight" panose="020B0502040204020203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572000" y="297180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0" y="2971800"/>
            <a:ext cx="109728" cy="1737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30632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Bahnschrift SemiLight" panose="020B0502040204020203" pitchFamily="34" charset="0"/>
                <a:ea typeface="Calibri" pitchFamily="34" charset="-122"/>
                <a:cs typeface="Calibri" pitchFamily="34" charset="-120"/>
              </a:rPr>
              <a:t>FAISS &amp; QEMU</a:t>
            </a:r>
            <a:endParaRPr lang="en-US" sz="1200" dirty="0">
              <a:latin typeface="Bahnschrift SemiLight" panose="020B0502040204020203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773168" y="34472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Bahnschrift SemiLight" panose="020B0502040204020203" pitchFamily="34" charset="0"/>
                <a:ea typeface="Calibri" pitchFamily="34" charset="-122"/>
                <a:cs typeface="Calibri" pitchFamily="34" charset="-120"/>
              </a:rPr>
              <a:t>•  FAISS: CPU-optimised vector retrieval</a:t>
            </a:r>
            <a:endParaRPr lang="en-US" sz="1050" dirty="0">
              <a:latin typeface="Bahnschrift SemiLight" panose="020B0502040204020203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773168" y="38404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Bahnschrift SemiLight" panose="020B0502040204020203" pitchFamily="34" charset="0"/>
                <a:ea typeface="Calibri" pitchFamily="34" charset="-122"/>
                <a:cs typeface="Calibri" pitchFamily="34" charset="-120"/>
              </a:rPr>
              <a:t>•  Flat L2: predictable d×n×4 bytes memory</a:t>
            </a:r>
            <a:endParaRPr lang="en-US" sz="1050" dirty="0">
              <a:latin typeface="Bahnschrift SemiLight" panose="020B0502040204020203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773168" y="42336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Bahnschrift SemiLight" panose="020B0502040204020203" pitchFamily="34" charset="0"/>
                <a:ea typeface="Calibri" pitchFamily="34" charset="-122"/>
                <a:cs typeface="Calibri" pitchFamily="34" charset="-120"/>
              </a:rPr>
              <a:t>•  QEMU: enforces hard resource limits</a:t>
            </a:r>
            <a:endParaRPr lang="en-US" sz="1050" dirty="0">
              <a:latin typeface="Bahnschrift SemiLight" panose="020B0502040204020203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65760" y="4681728"/>
            <a:ext cx="8412480" cy="310896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68172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B4D8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Positioning: EdgeRAG is an extension — combining RAG + GGUF quantization + FAISS in a novel offline embedded pipeline not yet benchmarked at this scale.</a:t>
            </a:r>
            <a:endParaRPr lang="en-US" sz="1050" dirty="0">
              <a:latin typeface="Bahnschrift Light SemiCondensed" panose="020B0502040204020203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D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Bahnschrift SemiBold" panose="020B0502040204020203" pitchFamily="34" charset="0"/>
                <a:ea typeface="Calibri" pitchFamily="34" charset="-122"/>
                <a:cs typeface="Calibri" pitchFamily="34" charset="-120"/>
              </a:rPr>
              <a:t>04 — Methodology: System Architecture</a:t>
            </a:r>
            <a:endParaRPr lang="en-US" sz="2200" dirty="0">
              <a:latin typeface="Bahnschrift SemiBold" panose="020B0502040204020203" pitchFamily="34" charset="0"/>
            </a:endParaRPr>
          </a:p>
        </p:txBody>
      </p:sp>
      <p:pic>
        <p:nvPicPr>
          <p:cNvPr id="5" name="Image 0" descr="/home/claude/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14400"/>
            <a:ext cx="8412480" cy="109782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2057949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Two-phase pipeline — offline ingestion (left) runs once; online inference (right) runs per query within the QEMU 2 GB envelope.</a:t>
            </a:r>
            <a:endParaRPr lang="en-US" sz="1000" dirty="0">
              <a:latin typeface="Bahnschrift Light SemiCondensed" panose="020B0502040204020203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365760" y="2515149"/>
            <a:ext cx="2011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2515149"/>
            <a:ext cx="201168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20624" y="2515149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Bahnschrift SemiBold" panose="020B0502040204020203" pitchFamily="34" charset="0"/>
                <a:ea typeface="Calibri" pitchFamily="34" charset="-122"/>
                <a:cs typeface="Calibri" pitchFamily="34" charset="-120"/>
              </a:rPr>
              <a:t>IngestionModule</a:t>
            </a:r>
            <a:endParaRPr lang="en-US" sz="1000" dirty="0">
              <a:latin typeface="Bahnschrift SemiBold" panose="020B0502040204020203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20624" y="2899197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RAM: ~100 MB</a:t>
            </a:r>
            <a:endParaRPr lang="en-US" sz="1050" dirty="0">
              <a:latin typeface="Bahnschrift Light SemiCondensed" panose="020B0502040204020203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20624" y="3200949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PDF/text → chunks (256 tok, 32 overlap) → disk</a:t>
            </a:r>
            <a:endParaRPr lang="en-US" sz="950" dirty="0">
              <a:latin typeface="Bahnschrift Light SemiCondensed" panose="020B0502040204020203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2441448" y="2515149"/>
            <a:ext cx="2011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441448" y="2515149"/>
            <a:ext cx="201168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496312" y="2515149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EmbeddingModule</a:t>
            </a:r>
            <a:endParaRPr lang="en-US" sz="1000" dirty="0">
              <a:latin typeface="Bahnschrift Light SemiCondensed" panose="020B0502040204020203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2496312" y="2899197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RAM: ~300 MB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2496312" y="3200949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MiniLM-L6-v2 → 384-dim vectors → FAISS index → disk → unload</a:t>
            </a:r>
            <a:endParaRPr lang="en-US" sz="950" dirty="0">
              <a:latin typeface="Bahnschrift Light SemiCondensed" panose="020B0502040204020203" pitchFamily="34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517136" y="2515149"/>
            <a:ext cx="2011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17136" y="2515149"/>
            <a:ext cx="201168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0" y="2515149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RetrievalModule</a:t>
            </a:r>
            <a:endParaRPr lang="en-US" sz="1000" dirty="0">
              <a:latin typeface="Bahnschrift Light SemiCondensed" panose="020B0502040204020203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4572000" y="2899197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RAM: ~80 MB</a:t>
            </a:r>
            <a:endParaRPr lang="en-US" sz="1050" dirty="0">
              <a:latin typeface="Bahnschrift Light SemiCondensed" panose="020B0502040204020203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4572000" y="3200949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Load FAISS index → embed query → top-k=3 chunks</a:t>
            </a:r>
            <a:endParaRPr lang="en-US" sz="950" dirty="0">
              <a:latin typeface="Bahnschrift Light SemiCondensed" panose="020B0502040204020203" pitchFamily="34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6592824" y="2515149"/>
            <a:ext cx="2011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592824" y="2515149"/>
            <a:ext cx="201168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647688" y="2515149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GenerationModule</a:t>
            </a:r>
            <a:endParaRPr lang="en-US" sz="1000" dirty="0">
              <a:latin typeface="Bahnschrift Light SemiCondensed" panose="020B0502040204020203" pitchFamily="34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6647688" y="2899197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RAM: ~1.4 GB</a:t>
            </a:r>
            <a:endParaRPr lang="en-US" sz="1050" dirty="0">
              <a:latin typeface="Bahnschrift Light SemiCondensed" panose="020B0502040204020203" pitchFamily="34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6647688" y="3200949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Load Phi-3 Mini Q4_K_M → LangChain prompt → stream answer → unload</a:t>
            </a:r>
            <a:endParaRPr lang="en-US" sz="950" dirty="0">
              <a:latin typeface="Bahnschrift Light SemiCondensed" panose="020B0502040204020203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D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Bahnschrift SemiBold" panose="020B0502040204020203" pitchFamily="34" charset="0"/>
                <a:ea typeface="Calibri" pitchFamily="34" charset="-122"/>
                <a:cs typeface="Calibri" pitchFamily="34" charset="-120"/>
              </a:rPr>
              <a:t>04 — Methodology: MoC &amp; Memory Management</a:t>
            </a:r>
            <a:endParaRPr lang="en-US" sz="2200" dirty="0">
              <a:latin typeface="Bahnschrift SemiBold" panose="020B0502040204020203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1148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4114800" cy="38404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Bahnschrift SemiBold SemiConden" panose="020B0502040204020203" pitchFamily="34" charset="0"/>
                <a:ea typeface="Calibri" pitchFamily="34" charset="-122"/>
                <a:cs typeface="Calibri" pitchFamily="34" charset="-120"/>
              </a:rPr>
              <a:t>Model of Computation — KPN</a:t>
            </a:r>
            <a:endParaRPr lang="en-US" sz="1300" dirty="0">
              <a:latin typeface="Bahnschrift SemiBold SemiConden" panose="020B050204020402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20" y="14447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3B"/>
                </a:solidFill>
                <a:latin typeface="Bahnschrift SemiLight SemiConde" panose="020B0502040204020203" pitchFamily="34" charset="0"/>
                <a:ea typeface="Calibri" pitchFamily="34" charset="-122"/>
                <a:cs typeface="Calibri" pitchFamily="34" charset="-120"/>
              </a:rPr>
              <a:t>Kahn Process Network (KPN)</a:t>
            </a:r>
            <a:endParaRPr lang="en-US" sz="1100" dirty="0">
              <a:latin typeface="Bahnschrift SemiLight SemiConde" panose="020B0502040204020203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17739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Bahnschrift SemiLight SemiConde" panose="020B0502040204020203" pitchFamily="34" charset="0"/>
                <a:ea typeface="Calibri" pitchFamily="34" charset="-122"/>
                <a:cs typeface="Calibri" pitchFamily="34" charset="-120"/>
              </a:rPr>
              <a:t>  ▸  Each module = sequential process</a:t>
            </a:r>
            <a:endParaRPr lang="en-US" sz="1100" dirty="0">
              <a:latin typeface="Bahnschrift SemiLight SemiConde" panose="020B050204020402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920" y="21031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Bahnschrift SemiLight SemiConde" panose="020B0502040204020203" pitchFamily="34" charset="0"/>
                <a:ea typeface="Calibri" pitchFamily="34" charset="-122"/>
                <a:cs typeface="Calibri" pitchFamily="34" charset="-120"/>
              </a:rPr>
              <a:t>  ▸  Communication via FIFO disk channels</a:t>
            </a:r>
            <a:endParaRPr lang="en-US" sz="1100" dirty="0">
              <a:latin typeface="Bahnschrift SemiLight SemiConde" panose="020B0502040204020203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2920" y="243230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Bahnschrift SemiLight SemiConde" panose="020B0502040204020203" pitchFamily="34" charset="0"/>
                <a:ea typeface="Calibri" pitchFamily="34" charset="-122"/>
                <a:cs typeface="Calibri" pitchFamily="34" charset="-120"/>
              </a:rPr>
              <a:t>  ▸  No module starts before prior one terminates</a:t>
            </a:r>
            <a:endParaRPr lang="en-US" sz="1100" dirty="0">
              <a:latin typeface="Bahnschrift SemiLight SemiConde" panose="020B050204020402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2920" y="30906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3B"/>
                </a:solidFill>
                <a:latin typeface="Bahnschrift SemiLight SemiConde" panose="020B0502040204020203" pitchFamily="34" charset="0"/>
                <a:ea typeface="Calibri" pitchFamily="34" charset="-122"/>
                <a:cs typeface="Calibri" pitchFamily="34" charset="-120"/>
              </a:rPr>
              <a:t>Guarantees:</a:t>
            </a:r>
            <a:endParaRPr lang="en-US" sz="1100" dirty="0">
              <a:latin typeface="Bahnschrift SemiLight SemiConde" panose="020B0502040204020203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2920" y="341985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Bahnschrift SemiLight SemiConde" panose="020B0502040204020203" pitchFamily="34" charset="0"/>
                <a:ea typeface="Calibri" pitchFamily="34" charset="-122"/>
                <a:cs typeface="Calibri" pitchFamily="34" charset="-120"/>
              </a:rPr>
              <a:t>  ▸  Deterministic execution order</a:t>
            </a:r>
            <a:endParaRPr lang="en-US" sz="1100" dirty="0">
              <a:latin typeface="Bahnschrift SemiLight SemiConde" panose="020B0502040204020203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02920" y="37490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Bahnschrift SemiLight SemiConde" panose="020B0502040204020203" pitchFamily="34" charset="0"/>
                <a:ea typeface="Calibri" pitchFamily="34" charset="-122"/>
                <a:cs typeface="Calibri" pitchFamily="34" charset="-120"/>
              </a:rPr>
              <a:t>  ▸  No deadlock or race conditions</a:t>
            </a:r>
            <a:endParaRPr lang="en-US" sz="1100" dirty="0">
              <a:latin typeface="Bahnschrift SemiLight SemiConde" panose="020B05020402040202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02920" y="407822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Bahnschrift SemiLight SemiConde" panose="020B0502040204020203" pitchFamily="34" charset="0"/>
                <a:ea typeface="Calibri" pitchFamily="34" charset="-122"/>
                <a:cs typeface="Calibri" pitchFamily="34" charset="-120"/>
              </a:rPr>
              <a:t>  ▸  Predictable peak memory bounds</a:t>
            </a:r>
            <a:endParaRPr lang="en-US" sz="1100" dirty="0">
              <a:latin typeface="Bahnschrift SemiLight SemiConde" panose="020B050204020402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02920" y="44074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Bahnschrift SemiLight SemiConde" panose="020B0502040204020203" pitchFamily="34" charset="0"/>
                <a:ea typeface="Calibri" pitchFamily="34" charset="-122"/>
                <a:cs typeface="Calibri" pitchFamily="34" charset="-120"/>
              </a:rPr>
              <a:t>  ▸  Single large object in RAM at any time</a:t>
            </a:r>
            <a:endParaRPr lang="en-US" sz="1100" dirty="0">
              <a:latin typeface="Bahnschrift SemiLight SemiConde" panose="020B0502040204020203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663440" y="960120"/>
            <a:ext cx="41148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960120"/>
            <a:ext cx="411480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9601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Bahnschrift SemiBold SemiConden" panose="020B0502040204020203" pitchFamily="34" charset="0"/>
                <a:ea typeface="Calibri" pitchFamily="34" charset="-122"/>
                <a:cs typeface="Calibri" pitchFamily="34" charset="-120"/>
              </a:rPr>
              <a:t>Memory Budget (Peak Stage Active)</a:t>
            </a:r>
            <a:endParaRPr lang="en-US" sz="1300" dirty="0">
              <a:latin typeface="Bahnschrift SemiBold SemiConden" panose="020B050204020402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54880" y="1417320"/>
            <a:ext cx="1325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3B"/>
                </a:solidFill>
                <a:latin typeface="Bahnschrift SemiLight SemiConde" panose="020B0502040204020203" pitchFamily="34" charset="0"/>
                <a:ea typeface="Calibri" pitchFamily="34" charset="-122"/>
                <a:cs typeface="Calibri" pitchFamily="34" charset="-120"/>
              </a:rPr>
              <a:t>OS + Runtime</a:t>
            </a:r>
            <a:endParaRPr lang="en-US" sz="900" dirty="0">
              <a:latin typeface="Bahnschrift SemiLight SemiConde" panose="020B0502040204020203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126480" y="1499616"/>
            <a:ext cx="232172" cy="18288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4372" y="1417320"/>
            <a:ext cx="731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3B"/>
                </a:solidFill>
                <a:latin typeface="Bahnschrift SemiLight SemiConde" panose="020B0502040204020203" pitchFamily="34" charset="0"/>
                <a:ea typeface="Calibri" pitchFamily="34" charset="-122"/>
                <a:cs typeface="Calibri" pitchFamily="34" charset="-120"/>
              </a:rPr>
              <a:t>200 MB</a:t>
            </a:r>
            <a:endParaRPr lang="en-US" sz="850" dirty="0">
              <a:latin typeface="Bahnschrift SemiLight SemiConde" panose="020B0502040204020203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754880" y="1819656"/>
            <a:ext cx="1325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3B"/>
                </a:solidFill>
                <a:latin typeface="Bahnschrift SemiLight SemiConde" panose="020B0502040204020203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900" dirty="0">
              <a:latin typeface="Bahnschrift SemiLight SemiConde" panose="020B0502040204020203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126480" y="1901952"/>
            <a:ext cx="116086" cy="1828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88286" y="1819656"/>
            <a:ext cx="731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3B"/>
                </a:solidFill>
                <a:latin typeface="Bahnschrift SemiLight SemiConde" panose="020B0502040204020203" pitchFamily="34" charset="0"/>
                <a:ea typeface="Calibri" pitchFamily="34" charset="-122"/>
                <a:cs typeface="Calibri" pitchFamily="34" charset="-120"/>
              </a:rPr>
              <a:t>100 MB</a:t>
            </a:r>
            <a:endParaRPr lang="en-US" sz="850" dirty="0">
              <a:latin typeface="Bahnschrift SemiLight SemiConde" panose="020B0502040204020203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754880" y="2221992"/>
            <a:ext cx="1325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3B"/>
                </a:solidFill>
                <a:latin typeface="Bahnschrift SemiLight SemiConde" panose="020B0502040204020203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900" dirty="0">
              <a:latin typeface="Bahnschrift SemiLight SemiConde" panose="020B0502040204020203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126480" y="2304288"/>
            <a:ext cx="348258" cy="1828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20458" y="2221992"/>
            <a:ext cx="731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3B"/>
                </a:solidFill>
                <a:latin typeface="Bahnschrift SemiLight SemiConde" panose="020B0502040204020203" pitchFamily="34" charset="0"/>
                <a:ea typeface="Calibri" pitchFamily="34" charset="-122"/>
                <a:cs typeface="Calibri" pitchFamily="34" charset="-120"/>
              </a:rPr>
              <a:t>300 MB</a:t>
            </a:r>
            <a:endParaRPr lang="en-US" sz="850" dirty="0">
              <a:latin typeface="Bahnschrift SemiLight SemiConde" panose="020B0502040204020203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754880" y="2624328"/>
            <a:ext cx="1325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3B"/>
                </a:solidFill>
                <a:latin typeface="Bahnschrift SemiLight SemiConde" panose="020B0502040204020203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900" dirty="0">
              <a:latin typeface="Bahnschrift SemiLight SemiConde" panose="020B0502040204020203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126480" y="2706624"/>
            <a:ext cx="92869" cy="182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5069" y="2624328"/>
            <a:ext cx="731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3B"/>
                </a:solidFill>
                <a:latin typeface="Bahnschrift SemiLight SemiConde" panose="020B0502040204020203" pitchFamily="34" charset="0"/>
                <a:ea typeface="Calibri" pitchFamily="34" charset="-122"/>
                <a:cs typeface="Calibri" pitchFamily="34" charset="-120"/>
              </a:rPr>
              <a:t>80 MB</a:t>
            </a:r>
            <a:endParaRPr lang="en-US" sz="850" dirty="0">
              <a:latin typeface="Bahnschrift SemiLight SemiConde" panose="020B0502040204020203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754880" y="3026664"/>
            <a:ext cx="1325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3B"/>
                </a:solidFill>
                <a:latin typeface="Bahnschrift SemiLight SemiConde" panose="020B0502040204020203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900" dirty="0">
              <a:latin typeface="Bahnschrift SemiLight SemiConde" panose="020B0502040204020203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126480" y="3108960"/>
            <a:ext cx="1625203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97403" y="3026664"/>
            <a:ext cx="731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3B"/>
                </a:solidFill>
                <a:latin typeface="Bahnschrift SemiLight SemiConde" panose="020B0502040204020203" pitchFamily="34" charset="0"/>
                <a:ea typeface="Calibri" pitchFamily="34" charset="-122"/>
                <a:cs typeface="Calibri" pitchFamily="34" charset="-120"/>
              </a:rPr>
              <a:t>1400 MB</a:t>
            </a:r>
            <a:endParaRPr lang="en-US" sz="850" dirty="0">
              <a:latin typeface="Bahnschrift SemiLight SemiConde" panose="020B0502040204020203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754880" y="3429000"/>
            <a:ext cx="1325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3B"/>
                </a:solidFill>
                <a:latin typeface="Bahnschrift SemiLight SemiConde" panose="020B0502040204020203" pitchFamily="34" charset="0"/>
                <a:ea typeface="Calibri" pitchFamily="34" charset="-122"/>
                <a:cs typeface="Calibri" pitchFamily="34" charset="-120"/>
              </a:rPr>
              <a:t>PEAK TOTAL</a:t>
            </a:r>
            <a:endParaRPr lang="en-US" sz="900" dirty="0">
              <a:latin typeface="Bahnschrift SemiLight SemiConde" panose="020B0502040204020203" pitchFamily="34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126480" y="3511296"/>
            <a:ext cx="1950244" cy="182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22444" y="3429000"/>
            <a:ext cx="731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2A3B"/>
                </a:solidFill>
                <a:latin typeface="Bahnschrift SemiLight SemiConde" panose="020B0502040204020203" pitchFamily="34" charset="0"/>
                <a:ea typeface="Calibri" pitchFamily="34" charset="-122"/>
                <a:cs typeface="Calibri" pitchFamily="34" charset="-120"/>
              </a:rPr>
              <a:t>1680 MB</a:t>
            </a:r>
            <a:endParaRPr lang="en-US" sz="850" dirty="0">
              <a:latin typeface="Bahnschrift SemiLight SemiConde" panose="020B0502040204020203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8503920" y="1399032"/>
            <a:ext cx="0" cy="2423160"/>
          </a:xfrm>
          <a:prstGeom prst="line">
            <a:avLst/>
          </a:prstGeom>
          <a:noFill/>
          <a:ln w="19050">
            <a:solidFill>
              <a:srgbClr val="EF4444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8549640" y="13716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  <a:latin typeface="Bahnschrift SemiLight SemiConde" panose="020B0502040204020203" pitchFamily="34" charset="0"/>
                <a:ea typeface="Calibri" pitchFamily="34" charset="-122"/>
                <a:cs typeface="Calibri" pitchFamily="34" charset="-120"/>
              </a:rPr>
              <a:t>2 GB limit</a:t>
            </a:r>
            <a:endParaRPr lang="en-US" sz="850" dirty="0">
              <a:latin typeface="Bahnschrift SemiLight SemiConde" panose="020B0502040204020203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4754880" y="3886200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3B"/>
                </a:solidFill>
                <a:latin typeface="Bahnschrift SemiLight SemiConde" panose="020B0502040204020203" pitchFamily="34" charset="0"/>
                <a:ea typeface="Calibri" pitchFamily="34" charset="-122"/>
                <a:cs typeface="Calibri" pitchFamily="34" charset="-120"/>
              </a:rPr>
              <a:t>Key strategies:</a:t>
            </a:r>
            <a:endParaRPr lang="en-US" sz="1000" dirty="0">
              <a:latin typeface="Bahnschrift SemiLight SemiConde" panose="020B0502040204020203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4754880" y="4142232"/>
            <a:ext cx="3977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Bahnschrift SemiLight SemiConde" panose="020B0502040204020203" pitchFamily="34" charset="0"/>
                <a:ea typeface="Calibri" pitchFamily="34" charset="-122"/>
                <a:cs typeface="Calibri" pitchFamily="34" charset="-120"/>
              </a:rPr>
              <a:t>▸  Embedding unloaded before SLM loads</a:t>
            </a:r>
            <a:endParaRPr lang="en-US" sz="900" dirty="0">
              <a:latin typeface="Bahnschrift SemiLight SemiConde" panose="020B0502040204020203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4754880" y="4370832"/>
            <a:ext cx="3977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Bahnschrift SemiLight SemiConde" panose="020B0502040204020203" pitchFamily="34" charset="0"/>
                <a:ea typeface="Calibri" pitchFamily="34" charset="-122"/>
                <a:cs typeface="Calibri" pitchFamily="34" charset="-120"/>
              </a:rPr>
              <a:t>▸  FAISS index mmap-backed (paged on demand)</a:t>
            </a:r>
            <a:endParaRPr lang="en-US" sz="900" dirty="0">
              <a:latin typeface="Bahnschrift SemiLight SemiConde" panose="020B0502040204020203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4754880" y="4599432"/>
            <a:ext cx="3977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Bahnschrift SemiLight SemiConde" panose="020B0502040204020203" pitchFamily="34" charset="0"/>
                <a:ea typeface="Calibri" pitchFamily="34" charset="-122"/>
                <a:cs typeface="Calibri" pitchFamily="34" charset="-120"/>
              </a:rPr>
              <a:t>▸  gc.collect() at every module boundary</a:t>
            </a:r>
            <a:endParaRPr lang="en-US" sz="900" dirty="0">
              <a:latin typeface="Bahnschrift SemiLight SemiConde" panose="020B0502040204020203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4754880" y="4828032"/>
            <a:ext cx="3977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Bahnschrift SemiLight SemiConde" panose="020B0502040204020203" pitchFamily="34" charset="0"/>
                <a:ea typeface="Calibri" pitchFamily="34" charset="-122"/>
                <a:cs typeface="Calibri" pitchFamily="34" charset="-120"/>
              </a:rPr>
              <a:t>▸  n_ctx=512 caps KV-cache; watchdog at &lt;100 MB free</a:t>
            </a:r>
            <a:endParaRPr lang="en-US" sz="900" dirty="0">
              <a:latin typeface="Bahnschrift SemiLight SemiConde" panose="020B0502040204020203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D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Bahnschrift SemiBold" panose="020B0502040204020203" pitchFamily="34" charset="0"/>
                <a:ea typeface="Calibri" pitchFamily="34" charset="-122"/>
                <a:cs typeface="Calibri" pitchFamily="34" charset="-120"/>
              </a:rPr>
              <a:t>05 — Evaluation Plan</a:t>
            </a:r>
            <a:endParaRPr lang="en-US" sz="2200" dirty="0">
              <a:latin typeface="Bahnschrift SemiBold" panose="020B0502040204020203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931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393192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Bahnschrift SemiBold SemiConden" panose="020B0502040204020203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>
              <a:latin typeface="Bahnschrift SemiBold SemiConden" panose="020B050204020402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20" y="138988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▸  10 embedded-systems datasheets / ARM manuals</a:t>
            </a:r>
            <a:endParaRPr lang="en-US" sz="1050" dirty="0">
              <a:latin typeface="Bahnschrift Light SemiCondensed" panose="020B0502040204020203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173736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▸  ~500 pages → 100 annotated QA pairs</a:t>
            </a:r>
            <a:endParaRPr lang="en-US" sz="1050" dirty="0">
              <a:latin typeface="Bahnschrift Light SemiCondensed" panose="020B050204020402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920" y="208483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▸  SQuAD 2.0 subset (200 technical QA questions)</a:t>
            </a:r>
            <a:endParaRPr lang="en-US" sz="1050" dirty="0">
              <a:latin typeface="Bahnschrift Light SemiCondensed" panose="020B0502040204020203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2920" y="2432304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▸  Query types: factoid, procedural, definition</a:t>
            </a:r>
            <a:endParaRPr lang="en-US" sz="1050" dirty="0">
              <a:latin typeface="Bahnschrift Light SemiCondensed" panose="020B0502040204020203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0" y="96012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960120"/>
            <a:ext cx="42062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9601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Bahnschrift SemiBold SemiConden" panose="020B0502040204020203" pitchFamily="34" charset="0"/>
                <a:ea typeface="Calibri" pitchFamily="34" charset="-122"/>
                <a:cs typeface="Calibri" pitchFamily="34" charset="-120"/>
              </a:rPr>
              <a:t>Experimental Conditions</a:t>
            </a:r>
            <a:endParaRPr lang="en-US" sz="1300" dirty="0">
              <a:latin typeface="Bahnschrift SemiBold SemiConden" panose="020B05020402040202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709160" y="138988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B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C1 — Baseline</a:t>
            </a:r>
            <a:endParaRPr lang="en-US" sz="1050" dirty="0">
              <a:latin typeface="Bahnschrift Light SemiCondensed" panose="020B050204020402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709160" y="161848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2 GB RAM, 2 cores, Phi-3 Q4_K_M, FAISS</a:t>
            </a:r>
            <a:endParaRPr lang="en-US" sz="1000" dirty="0">
              <a:latin typeface="Bahnschrift Light SemiCondensed" panose="020B0502040204020203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709160" y="186537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B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C2 — Memory-Stressed</a:t>
            </a:r>
            <a:endParaRPr lang="en-US" sz="1050" dirty="0">
              <a:latin typeface="Bahnschrift Light SemiCondensed" panose="020B0502040204020203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709160" y="209397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1.5 GB RAM — tests OOM mitigation</a:t>
            </a:r>
            <a:endParaRPr lang="en-US" sz="1000" dirty="0">
              <a:latin typeface="Bahnschrift Light SemiCondensed" panose="020B0502040204020203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709160" y="234086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B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C3 — No-RAG Ablation</a:t>
            </a:r>
            <a:endParaRPr lang="en-US" sz="1050" dirty="0">
              <a:latin typeface="Bahnschrift Light SemiCondensed" panose="020B050204020402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09160" y="256946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SLM only, no retrieval — measures RAG gain</a:t>
            </a:r>
            <a:endParaRPr lang="en-US" sz="1000" dirty="0">
              <a:latin typeface="Bahnschrift Light SemiCondensed" panose="020B0502040204020203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65760" y="30175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3B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300" dirty="0">
              <a:latin typeface="Bahnschrift Light SemiCondensed" panose="020B0502040204020203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65760" y="338328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383280"/>
            <a:ext cx="4160520" cy="32004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38328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System Metrics</a:t>
            </a:r>
            <a:endParaRPr lang="en-US" sz="1100" dirty="0">
              <a:latin typeface="Bahnschrift Light SemiCondensed" panose="020B0502040204020203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57200" y="374904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3B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Peak RAM</a:t>
            </a:r>
            <a:endParaRPr lang="en-US" sz="950" dirty="0">
              <a:latin typeface="Bahnschrift Light SemiCondensed" panose="020B0502040204020203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389888" y="3749040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VmRSS via /proc/$PID/status</a:t>
            </a:r>
            <a:endParaRPr lang="en-US" sz="950" dirty="0">
              <a:latin typeface="Bahnschrift Light SemiCondensed" panose="020B0502040204020203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246120" y="3749040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&lt; 1.8 GB</a:t>
            </a:r>
            <a:endParaRPr lang="en-US" sz="950" dirty="0">
              <a:latin typeface="Bahnschrift Light SemiCondensed" panose="020B0502040204020203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57200" y="402336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3B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950" dirty="0">
              <a:latin typeface="Bahnschrift Light SemiCondensed" panose="020B0502040204020203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389888" y="4023360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Wall-clock, end-to-end</a:t>
            </a:r>
            <a:endParaRPr lang="en-US" sz="950" dirty="0">
              <a:latin typeface="Bahnschrift Light SemiCondensed" panose="020B0502040204020203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3246120" y="4023360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&lt; 60 s</a:t>
            </a:r>
            <a:endParaRPr lang="en-US" sz="950" dirty="0">
              <a:latin typeface="Bahnschrift Light SemiCondensed" panose="020B0502040204020203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57200" y="429768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3B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Tokens/sec</a:t>
            </a:r>
            <a:endParaRPr lang="en-US" sz="950" dirty="0">
              <a:latin typeface="Bahnschrift Light SemiCondensed" panose="020B0502040204020203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389888" y="4297680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Generated tokens ÷ gen time</a:t>
            </a:r>
            <a:endParaRPr lang="en-US" sz="950" dirty="0">
              <a:latin typeface="Bahnschrift Light SemiCondensed" panose="020B0502040204020203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3246120" y="4297680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≥ 0.5</a:t>
            </a:r>
            <a:endParaRPr lang="en-US" sz="950" dirty="0">
              <a:latin typeface="Bahnschrift Light SemiCondensed" panose="020B0502040204020203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57200" y="457200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3B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OOM Rate</a:t>
            </a:r>
            <a:endParaRPr lang="en-US" sz="950" dirty="0">
              <a:latin typeface="Bahnschrift Light SemiCondensed" panose="020B0502040204020203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389888" y="4572000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Fraction of crashes / total</a:t>
            </a:r>
            <a:endParaRPr lang="en-US" sz="950" dirty="0">
              <a:latin typeface="Bahnschrift Light SemiCondensed" panose="020B0502040204020203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3246120" y="4572000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&lt; 5%</a:t>
            </a:r>
            <a:endParaRPr lang="en-US" sz="950" dirty="0">
              <a:latin typeface="Bahnschrift Light SemiCondensed" panose="020B0502040204020203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4754880" y="338328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3383280"/>
            <a:ext cx="4023360" cy="32004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3383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RAG / QA Metrics</a:t>
            </a:r>
            <a:endParaRPr lang="en-US" sz="1100" dirty="0">
              <a:latin typeface="Bahnschrift Light SemiCondensed" panose="020B0502040204020203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4846320" y="374904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3B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Recall@k</a:t>
            </a:r>
            <a:endParaRPr lang="en-US" sz="950" dirty="0">
              <a:latin typeface="Bahnschrift Light SemiCondensed" panose="020B0502040204020203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870448" y="3749040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Top-k contains relevant chunk (k=1,3,5)</a:t>
            </a:r>
            <a:endParaRPr lang="en-US" sz="950" dirty="0">
              <a:latin typeface="Bahnschrift Light SemiCondensed" panose="020B0502040204020203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909560" y="3749040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≥ 0.65 @3</a:t>
            </a:r>
            <a:endParaRPr lang="en-US" sz="950" dirty="0">
              <a:latin typeface="Bahnschrift Light SemiCondensed" panose="020B0502040204020203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4846320" y="402336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3B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950" dirty="0">
              <a:latin typeface="Bahnschrift Light SemiCondensed" panose="020B0502040204020203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5870448" y="4023360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Token F1 vs ground truth (SQuAD protocol)</a:t>
            </a:r>
            <a:endParaRPr lang="en-US" sz="950" dirty="0">
              <a:latin typeface="Bahnschrift Light SemiCondensed" panose="020B0502040204020203" pitchFamily="34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7909560" y="4023360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≥ 0.40</a:t>
            </a:r>
            <a:endParaRPr lang="en-US" sz="950" dirty="0">
              <a:latin typeface="Bahnschrift Light SemiCondensed" panose="020B0502040204020203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4846320" y="429768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3B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Exact Match</a:t>
            </a:r>
            <a:endParaRPr lang="en-US" sz="950" dirty="0">
              <a:latin typeface="Bahnschrift Light SemiCondensed" panose="020B0502040204020203" pitchFamily="34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5870448" y="4297680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Binary score for factoid answers</a:t>
            </a:r>
            <a:endParaRPr lang="en-US" sz="950" dirty="0">
              <a:latin typeface="Bahnschrift Light SemiCondensed" panose="020B0502040204020203" pitchFamily="34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7909560" y="4297680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Bahnschrift Light SemiCondensed" panose="020B0502040204020203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>
              <a:latin typeface="Bahnschrift Light SemiCondensed" panose="020B0502040204020203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ED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Bahnschrift SemiBold" panose="020B0502040204020203" pitchFamily="34" charset="0"/>
                <a:ea typeface="Calibri" pitchFamily="34" charset="-122"/>
                <a:cs typeface="Calibri" pitchFamily="34" charset="-120"/>
              </a:rPr>
              <a:t>06 — Embedded System Design Considerations</a:t>
            </a:r>
            <a:endParaRPr lang="en-US" sz="2000" dirty="0">
              <a:latin typeface="Bahnschrift SemiBold" panose="020B0502040204020203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274320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🧠  Resource Constraints</a:t>
            </a:r>
            <a:endParaRPr lang="en-US" sz="1200" dirty="0">
              <a:latin typeface="Bahnschrift Light" panose="020B050204020402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75488" y="13990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▸  2 GB RAM hard ceiling enforced by QEMU</a:t>
            </a:r>
            <a:endParaRPr lang="en-US" sz="1000" dirty="0">
              <a:latin typeface="Bahnschrift Light" panose="020B0502040204020203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75488" y="18013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▸  KPN MoC ensures single active module</a:t>
            </a:r>
            <a:endParaRPr lang="en-US" sz="1000" dirty="0">
              <a:latin typeface="Bahnschrift Light" panose="020B050204020402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75488" y="220370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▸  Peak ~1.68 GB — 320 MB headroom</a:t>
            </a:r>
            <a:endParaRPr lang="en-US" sz="1000" dirty="0">
              <a:latin typeface="Bahnschrift Light" panose="020B0502040204020203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00400" y="96012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960120"/>
            <a:ext cx="274320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9601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⚡  Real-Time Constraints</a:t>
            </a:r>
            <a:endParaRPr lang="en-US" sz="1200" dirty="0">
              <a:latin typeface="Bahnschrift Light" panose="020B0502040204020203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310128" y="13990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▸  No hard real-time requirement</a:t>
            </a:r>
            <a:endParaRPr lang="en-US" sz="1000" dirty="0">
              <a:latin typeface="Bahnschrift Light" panose="020B05020402040202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310128" y="18013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▸  Soft target: ≤ 60 s end-to-end</a:t>
            </a:r>
            <a:endParaRPr lang="en-US" sz="1000" dirty="0">
              <a:latin typeface="Bahnschrift Light" panose="020B050204020402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310128" y="220370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▸  Latency bucketed by output length</a:t>
            </a:r>
            <a:endParaRPr lang="en-US" sz="1000" dirty="0">
              <a:latin typeface="Bahnschrift Light" panose="020B0502040204020203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035040" y="96012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960120"/>
            <a:ext cx="2743200" cy="38404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9601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🔒  Security</a:t>
            </a:r>
            <a:endParaRPr lang="en-US" sz="1200" dirty="0">
              <a:latin typeface="Bahnschrift Light" panose="020B050204020402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144768" y="13990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▸  -net none: zero network egress</a:t>
            </a:r>
            <a:endParaRPr lang="en-US" sz="1000" dirty="0">
              <a:latin typeface="Bahnschrift Light" panose="020B0502040204020203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144768" y="18013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▸  SHA-256 model integrity check</a:t>
            </a:r>
            <a:endParaRPr lang="en-US" sz="1000" dirty="0">
              <a:latin typeface="Bahnschrift Light" panose="020B0502040204020203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144768" y="220370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▸  LUKS encryption recommended in prod</a:t>
            </a:r>
            <a:endParaRPr lang="en-US" sz="1000" dirty="0">
              <a:latin typeface="Bahnschrift Light" panose="020B0502040204020203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65760" y="288036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2880360"/>
            <a:ext cx="2743200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8803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🛡️  Reliability</a:t>
            </a:r>
            <a:endParaRPr lang="en-US" sz="1200" dirty="0">
              <a:latin typeface="Bahnschrift Light" panose="020B0502040204020203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75488" y="33192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▸  OOM watchdog at &lt; 100 MB free RAM</a:t>
            </a:r>
            <a:endParaRPr lang="en-US" sz="1000" dirty="0">
              <a:latin typeface="Bahnschrift Light" panose="020B0502040204020203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75488" y="37216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▸  Graceful pipeline termination on risk</a:t>
            </a:r>
            <a:endParaRPr lang="en-US" sz="1000" dirty="0">
              <a:latin typeface="Bahnschrift Light" panose="020B0502040204020203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75488" y="412394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▸  ≥ 95% query success target</a:t>
            </a:r>
            <a:endParaRPr lang="en-US" sz="1000" dirty="0">
              <a:latin typeface="Bahnschrift Light" panose="020B0502040204020203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200400" y="288036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0" y="2880360"/>
            <a:ext cx="2743200" cy="38404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0" y="28803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🌿  Energy Efficiency</a:t>
            </a:r>
            <a:endParaRPr lang="en-US" sz="1200" dirty="0">
              <a:latin typeface="Bahnschrift Light" panose="020B0502040204020203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310128" y="33192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▸  No continuous cloud round-trips</a:t>
            </a:r>
            <a:endParaRPr lang="en-US" sz="1000" dirty="0">
              <a:latin typeface="Bahnschrift Light" panose="020B0502040204020203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3310128" y="37216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▸  CPU-only inference — no GPU power</a:t>
            </a:r>
            <a:endParaRPr lang="en-US" sz="1000" dirty="0">
              <a:latin typeface="Bahnschrift Light" panose="020B0502040204020203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3310128" y="412394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▸  Significant carbon footprint reduction</a:t>
            </a:r>
            <a:endParaRPr lang="en-US" sz="1000" dirty="0">
              <a:latin typeface="Bahnschrift Light" panose="020B0502040204020203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035040" y="288036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35040" y="2880360"/>
            <a:ext cx="2743200" cy="384048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0" y="28803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🔄  Reproducibility</a:t>
            </a:r>
            <a:endParaRPr lang="en-US" sz="1200" dirty="0">
              <a:latin typeface="Bahnschrift Light" panose="020B0502040204020203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144768" y="33192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▸  setup.sh deterministic build script</a:t>
            </a:r>
            <a:endParaRPr lang="en-US" sz="1000" dirty="0">
              <a:latin typeface="Bahnschrift Light" panose="020B0502040204020203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144768" y="37216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▸  Fixed model checksum verification</a:t>
            </a:r>
            <a:endParaRPr lang="en-US" sz="1000" dirty="0">
              <a:latin typeface="Bahnschrift Light" panose="020B0502040204020203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144768" y="412394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▸  Docker/QEMU image for replication</a:t>
            </a:r>
            <a:endParaRPr lang="en-US" sz="1000" dirty="0">
              <a:latin typeface="Bahnschrift Light" panose="020B0502040204020203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ED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Bahnschrift SemiBold" panose="020B0502040204020203" pitchFamily="34" charset="0"/>
                <a:ea typeface="Calibri" pitchFamily="34" charset="-122"/>
                <a:cs typeface="Calibri" pitchFamily="34" charset="-120"/>
              </a:rPr>
              <a:t>Semester Timeline</a:t>
            </a:r>
            <a:endParaRPr lang="en-US" sz="2200" dirty="0">
              <a:latin typeface="Bahnschrift SemiBold" panose="020B0502040204020203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12648" y="1307592"/>
            <a:ext cx="0" cy="45720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1033272"/>
            <a:ext cx="274320" cy="27432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033272"/>
            <a:ext cx="475488" cy="27432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03327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4D8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Wk 1–2</a:t>
            </a:r>
            <a:endParaRPr lang="en-US" sz="800" dirty="0">
              <a:latin typeface="Bahnschrift Light" panose="020B0502040204020203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371600" y="10332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B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Requirements &amp; Spec</a:t>
            </a:r>
            <a:endParaRPr lang="en-US" sz="1050" dirty="0">
              <a:latin typeface="Bahnschrift Light" panose="020B050204020402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371600" y="13075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Constraints, metrics, dataset selection</a:t>
            </a:r>
            <a:endParaRPr lang="en-US" sz="900" dirty="0">
              <a:latin typeface="Bahnschrift Light" panose="020B0502040204020203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12648" y="2112264"/>
            <a:ext cx="0" cy="45720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" y="1837944"/>
            <a:ext cx="274320" cy="27432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" y="1837944"/>
            <a:ext cx="475488" cy="27432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1837944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4D8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Wk 3</a:t>
            </a:r>
            <a:endParaRPr lang="en-US" sz="800" dirty="0">
              <a:latin typeface="Bahnschrift Light" panose="020B05020402040202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371600" y="183794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B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Architecture Design</a:t>
            </a:r>
            <a:endParaRPr lang="en-US" sz="1050" dirty="0">
              <a:latin typeface="Bahnschrift Light" panose="020B050204020402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371600" y="21122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Data flow, memory budget, software design</a:t>
            </a:r>
            <a:endParaRPr lang="en-US" sz="900" dirty="0">
              <a:latin typeface="Bahnschrift Light" panose="020B0502040204020203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12648" y="2916936"/>
            <a:ext cx="0" cy="45720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" y="2642616"/>
            <a:ext cx="274320" cy="27432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1248" y="2642616"/>
            <a:ext cx="475488" cy="27432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2642616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4D8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Wk 4</a:t>
            </a:r>
            <a:endParaRPr lang="en-US" sz="800" dirty="0">
              <a:latin typeface="Bahnschrift Light" panose="020B0502040204020203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371600" y="264261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B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QEMU Setup</a:t>
            </a:r>
            <a:endParaRPr lang="en-US" sz="1050" dirty="0">
              <a:latin typeface="Bahnschrift Light" panose="020B0502040204020203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371600" y="291693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ARM64 env, 2 GB limit, verify boot</a:t>
            </a:r>
            <a:endParaRPr lang="en-US" sz="900" dirty="0">
              <a:latin typeface="Bahnschrift Light" panose="020B0502040204020203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12648" y="3721608"/>
            <a:ext cx="0" cy="45720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3447288"/>
            <a:ext cx="274320" cy="274320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1248" y="3447288"/>
            <a:ext cx="475488" cy="27432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34472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4D8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Wk 5</a:t>
            </a:r>
            <a:endParaRPr lang="en-US" sz="800" dirty="0">
              <a:latin typeface="Bahnschrift Light" panose="020B0502040204020203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371600" y="34472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B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SLM Deployment</a:t>
            </a:r>
            <a:endParaRPr lang="en-US" sz="1050" dirty="0">
              <a:latin typeface="Bahnschrift Light" panose="020B0502040204020203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371600" y="372160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Phi-3 Mini Q4_K_M, baseline inference</a:t>
            </a:r>
            <a:endParaRPr lang="en-US" sz="900" dirty="0">
              <a:latin typeface="Bahnschrift Light" panose="020B0502040204020203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75488" y="4251960"/>
            <a:ext cx="274320" cy="274320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1248" y="4251960"/>
            <a:ext cx="475488" cy="27432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1248" y="425196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4D8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Wk 6</a:t>
            </a:r>
            <a:endParaRPr lang="en-US" sz="800" dirty="0">
              <a:latin typeface="Bahnschrift Light" panose="020B0502040204020203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371600" y="42519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B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Ingestion + Embedding</a:t>
            </a:r>
            <a:endParaRPr lang="en-US" sz="1050" dirty="0">
              <a:latin typeface="Bahnschrift Light" panose="020B0502040204020203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371600" y="45262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IngestionModule, EmbeddingModule, FAISS</a:t>
            </a:r>
            <a:endParaRPr lang="en-US" sz="900" dirty="0">
              <a:latin typeface="Bahnschrift Light" panose="020B0502040204020203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001768" y="1307592"/>
            <a:ext cx="0" cy="45720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64608" y="1033272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30368" y="1033272"/>
            <a:ext cx="475488" cy="27432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0368" y="103327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4D8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Wk 7</a:t>
            </a:r>
            <a:endParaRPr lang="en-US" sz="800" dirty="0">
              <a:latin typeface="Bahnschrift Light" panose="020B0502040204020203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760720" y="10332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B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★ Proposal + Retrieval</a:t>
            </a:r>
            <a:endParaRPr lang="en-US" sz="1050" dirty="0">
              <a:latin typeface="Bahnschrift Light" panose="020B0502040204020203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760720" y="13075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Extended proposal submission + RetrievalModule</a:t>
            </a:r>
            <a:endParaRPr lang="en-US" sz="900" dirty="0">
              <a:latin typeface="Bahnschrift Light" panose="020B0502040204020203" pitchFamily="34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5001768" y="2112264"/>
            <a:ext cx="0" cy="45720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64608" y="1837944"/>
            <a:ext cx="274320" cy="274320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230368" y="1837944"/>
            <a:ext cx="475488" cy="27432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30368" y="1837944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4D8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Wk 8</a:t>
            </a:r>
            <a:endParaRPr lang="en-US" sz="800" dirty="0">
              <a:latin typeface="Bahnschrift Light" panose="020B0502040204020203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5760720" y="183794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B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Full Pipeline</a:t>
            </a:r>
            <a:endParaRPr lang="en-US" sz="1050" dirty="0">
              <a:latin typeface="Bahnschrift Light" panose="020B0502040204020203" pitchFamily="34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5760720" y="21122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GenerationModule integrated, end-to-end test</a:t>
            </a:r>
            <a:endParaRPr lang="en-US" sz="900" dirty="0">
              <a:latin typeface="Bahnschrift Light" panose="020B0502040204020203" pitchFamily="34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5001768" y="2916936"/>
            <a:ext cx="0" cy="45720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64608" y="2642616"/>
            <a:ext cx="274320" cy="274320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230368" y="2642616"/>
            <a:ext cx="475488" cy="27432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30368" y="2642616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 err="1">
                <a:solidFill>
                  <a:srgbClr val="00B4D8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Wk</a:t>
            </a:r>
            <a:r>
              <a:rPr lang="en-US" sz="800" b="1" dirty="0">
                <a:solidFill>
                  <a:srgbClr val="00B4D8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800" b="1" dirty="0">
                <a:solidFill>
                  <a:srgbClr val="00B4D8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>
              <a:latin typeface="Bahnschrift Light" panose="020B0502040204020203" pitchFamily="34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5760720" y="264261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B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Profiling &amp; Evaluation</a:t>
            </a:r>
            <a:endParaRPr lang="en-US" sz="1050" dirty="0">
              <a:latin typeface="Bahnschrift Light" panose="020B0502040204020203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5760720" y="291693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Memory, latency, OOM, RAG quality</a:t>
            </a:r>
            <a:endParaRPr lang="en-US" sz="900" dirty="0">
              <a:latin typeface="Bahnschrift Light" panose="020B0502040204020203" pitchFamily="34" charset="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5001768" y="3721608"/>
            <a:ext cx="0" cy="45720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864608" y="3447288"/>
            <a:ext cx="274320" cy="274320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230368" y="3447288"/>
            <a:ext cx="475488" cy="27432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230368" y="34472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 err="1">
                <a:solidFill>
                  <a:srgbClr val="00B4D8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Wk</a:t>
            </a:r>
            <a:r>
              <a:rPr lang="en-US" sz="800" b="1" dirty="0">
                <a:solidFill>
                  <a:srgbClr val="00B4D8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 1</a:t>
            </a:r>
            <a:r>
              <a:rPr lang="tr-TR" sz="800" b="1" dirty="0">
                <a:solidFill>
                  <a:srgbClr val="00B4D8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>
              <a:latin typeface="Bahnschrift Light" panose="020B0502040204020203" pitchFamily="34" charset="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5760720" y="34472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B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050" dirty="0">
              <a:latin typeface="Bahnschrift Light" panose="020B0502040204020203" pitchFamily="34" charset="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5760720" y="372160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Chunk size, k-value, quantization tuning</a:t>
            </a:r>
            <a:endParaRPr lang="en-US" sz="900" dirty="0">
              <a:latin typeface="Bahnschrift Light" panose="020B0502040204020203" pitchFamily="34" charset="0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4864608" y="4251960"/>
            <a:ext cx="274320" cy="274320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230368" y="4251960"/>
            <a:ext cx="475488" cy="27432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230368" y="425196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 err="1">
                <a:solidFill>
                  <a:srgbClr val="00B4D8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Wk</a:t>
            </a:r>
            <a:r>
              <a:rPr lang="en-US" sz="800" b="1" dirty="0">
                <a:solidFill>
                  <a:srgbClr val="00B4D8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 1</a:t>
            </a:r>
            <a:r>
              <a:rPr lang="tr-TR" sz="800" b="1" dirty="0">
                <a:solidFill>
                  <a:srgbClr val="00B4D8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>
              <a:latin typeface="Bahnschrift Light" panose="020B0502040204020203" pitchFamily="34" charset="0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5760720" y="42519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B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Final Report</a:t>
            </a:r>
            <a:endParaRPr lang="en-US" sz="1050" dirty="0">
              <a:latin typeface="Bahnschrift Light" panose="020B0502040204020203" pitchFamily="34" charset="0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5760720" y="45262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Ablation study, conclusion, submission</a:t>
            </a:r>
            <a:endParaRPr lang="en-US" sz="900" dirty="0">
              <a:latin typeface="Bahnschrift Light" panose="020B0502040204020203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4114800"/>
            <a:ext cx="8979408" cy="10287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20040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Bahnschrift SemiCondensed" panose="020B0502040204020203" pitchFamily="34" charset="0"/>
                <a:ea typeface="Calibri Light" pitchFamily="34" charset="-122"/>
                <a:cs typeface="Calibri Light" pitchFamily="34" charset="-120"/>
              </a:rPr>
              <a:t>Thank</a:t>
            </a:r>
            <a:r>
              <a:rPr lang="tr-TR" sz="5200" b="1" dirty="0">
                <a:solidFill>
                  <a:srgbClr val="FFFFFF"/>
                </a:solidFill>
                <a:latin typeface="Bahnschrift SemiCondensed" panose="020B0502040204020203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tr-TR" sz="5200" b="1" dirty="0" err="1">
                <a:solidFill>
                  <a:srgbClr val="FFFFFF"/>
                </a:solidFill>
                <a:latin typeface="Bahnschrift SemiCondensed" panose="020B0502040204020203" pitchFamily="34" charset="0"/>
                <a:ea typeface="Calibri Light" pitchFamily="34" charset="-122"/>
                <a:cs typeface="Calibri Light" pitchFamily="34" charset="-120"/>
              </a:rPr>
              <a:t>You</a:t>
            </a:r>
            <a:endParaRPr lang="tr-TR" sz="5200" b="1" dirty="0">
              <a:solidFill>
                <a:srgbClr val="FFFFFF"/>
              </a:solidFill>
              <a:latin typeface="Bahnschrift SemiCondensed" panose="020B0502040204020203" pitchFamily="34" charset="0"/>
              <a:ea typeface="Calibri Light" pitchFamily="34" charset="-122"/>
              <a:cs typeface="Calibri Light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" y="4005072"/>
            <a:ext cx="41148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998299"/>
            <a:ext cx="8321040" cy="702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Bahnschrift SemiLight" panose="020B0502040204020203" pitchFamily="34" charset="0"/>
                <a:ea typeface="Calibri" pitchFamily="34" charset="-122"/>
                <a:cs typeface="Calibri" pitchFamily="34" charset="-120"/>
              </a:rPr>
              <a:t>Hüseyin Eren Doğan  </a:t>
            </a:r>
            <a:r>
              <a:rPr lang="tr-TR" sz="1100" dirty="0">
                <a:solidFill>
                  <a:srgbClr val="64748B"/>
                </a:solidFill>
                <a:latin typeface="Bahnschrift SemiLight" panose="020B0502040204020203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00" dirty="0">
                <a:solidFill>
                  <a:srgbClr val="64748B"/>
                </a:solidFill>
                <a:latin typeface="Bahnschrift SemiLight" panose="020B0502040204020203" pitchFamily="34" charset="0"/>
                <a:ea typeface="Calibri" pitchFamily="34" charset="-122"/>
                <a:cs typeface="Calibri" pitchFamily="34" charset="-120"/>
              </a:rPr>
              <a:t>  N25123065</a:t>
            </a:r>
            <a:endParaRPr lang="tr-TR" sz="1100" dirty="0">
              <a:solidFill>
                <a:srgbClr val="64748B"/>
              </a:solidFill>
              <a:latin typeface="Bahnschrift SemiLight" panose="020B0502040204020203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Bahnschrift SemiLight" panose="020B0502040204020203" pitchFamily="34" charset="0"/>
                <a:ea typeface="Calibri" pitchFamily="34" charset="-122"/>
                <a:cs typeface="Calibri" pitchFamily="34" charset="-120"/>
              </a:rPr>
              <a:t>CMP720 </a:t>
            </a:r>
            <a:r>
              <a:rPr lang="tr-TR" sz="1100" dirty="0">
                <a:solidFill>
                  <a:srgbClr val="64748B"/>
                </a:solidFill>
                <a:latin typeface="Bahnschrift SemiLight" panose="020B0502040204020203" pitchFamily="34" charset="0"/>
                <a:ea typeface="Calibri" pitchFamily="34" charset="-122"/>
                <a:cs typeface="Calibri" pitchFamily="34" charset="-120"/>
              </a:rPr>
              <a:t>Embedded </a:t>
            </a:r>
            <a:r>
              <a:rPr lang="tr-TR" sz="1100" dirty="0" err="1">
                <a:solidFill>
                  <a:srgbClr val="64748B"/>
                </a:solidFill>
                <a:latin typeface="Bahnschrift SemiLight" panose="020B0502040204020203" pitchFamily="34" charset="0"/>
                <a:ea typeface="Calibri" pitchFamily="34" charset="-122"/>
                <a:cs typeface="Calibri" pitchFamily="34" charset="-120"/>
              </a:rPr>
              <a:t>System</a:t>
            </a:r>
            <a:r>
              <a:rPr lang="tr-TR" sz="1100" dirty="0">
                <a:solidFill>
                  <a:srgbClr val="64748B"/>
                </a:solidFill>
                <a:latin typeface="Bahnschrift SemiLight" panose="020B0502040204020203" pitchFamily="34" charset="0"/>
                <a:ea typeface="Calibri" pitchFamily="34" charset="-122"/>
                <a:cs typeface="Calibri" pitchFamily="34" charset="-120"/>
              </a:rPr>
              <a:t> Design – </a:t>
            </a:r>
            <a:r>
              <a:rPr lang="en-US" sz="1100" dirty="0">
                <a:solidFill>
                  <a:srgbClr val="64748B"/>
                </a:solidFill>
                <a:latin typeface="Bahnschrift SemiLight" panose="020B0502040204020203" pitchFamily="34" charset="0"/>
                <a:ea typeface="Calibri" pitchFamily="34" charset="-122"/>
                <a:cs typeface="Calibri" pitchFamily="34" charset="-120"/>
              </a:rPr>
              <a:t>Spring</a:t>
            </a:r>
            <a:r>
              <a:rPr lang="tr-TR" sz="1100" dirty="0">
                <a:solidFill>
                  <a:srgbClr val="64748B"/>
                </a:solidFill>
                <a:latin typeface="Bahnschrift SemiLight" panose="020B0502040204020203" pitchFamily="34" charset="0"/>
                <a:ea typeface="Calibri" pitchFamily="34" charset="-122"/>
                <a:cs typeface="Calibri" pitchFamily="34" charset="-120"/>
              </a:rPr>
              <a:t>’</a:t>
            </a:r>
            <a:r>
              <a:rPr lang="en-US" sz="1100" dirty="0">
                <a:solidFill>
                  <a:srgbClr val="64748B"/>
                </a:solidFill>
                <a:latin typeface="Bahnschrift SemiLight" panose="020B0502040204020203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tr-TR" sz="1100" dirty="0">
              <a:solidFill>
                <a:srgbClr val="64748B"/>
              </a:solidFill>
              <a:latin typeface="Bahnschrift SemiLight" panose="020B0502040204020203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tr-TR" sz="1100" dirty="0">
                <a:solidFill>
                  <a:srgbClr val="64748B"/>
                </a:solidFill>
                <a:latin typeface="Bahnschrift SemiLight" panose="020B0502040204020203" pitchFamily="34" charset="0"/>
                <a:ea typeface="Calibri" pitchFamily="34" charset="-122"/>
                <a:cs typeface="Calibri" pitchFamily="34" charset="-120"/>
              </a:rPr>
              <a:t>Hacettepe </a:t>
            </a:r>
            <a:r>
              <a:rPr lang="tr-TR" sz="1100" dirty="0" err="1">
                <a:solidFill>
                  <a:srgbClr val="64748B"/>
                </a:solidFill>
                <a:latin typeface="Bahnschrift SemiLight" panose="020B0502040204020203" pitchFamily="34" charset="0"/>
                <a:ea typeface="Calibri" pitchFamily="34" charset="-122"/>
                <a:cs typeface="Calibri" pitchFamily="34" charset="-120"/>
              </a:rPr>
              <a:t>University</a:t>
            </a:r>
            <a:r>
              <a:rPr lang="tr-TR" sz="1100" dirty="0">
                <a:solidFill>
                  <a:srgbClr val="64748B"/>
                </a:solidFill>
                <a:latin typeface="Bahnschrift SemiLight" panose="020B0502040204020203" pitchFamily="34" charset="0"/>
                <a:ea typeface="Calibri" pitchFamily="34" charset="-122"/>
                <a:cs typeface="Calibri" pitchFamily="34" charset="-120"/>
              </a:rPr>
              <a:t> - Aselsan</a:t>
            </a:r>
            <a:endParaRPr lang="en-US" sz="1100" dirty="0">
              <a:latin typeface="Bahnschrift SemiLight" panose="020B0502040204020203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1153</Words>
  <Application>Microsoft Office PowerPoint</Application>
  <PresentationFormat>Ekran Gösterisi (16:9)</PresentationFormat>
  <Paragraphs>240</Paragraphs>
  <Slides>11</Slides>
  <Notes>11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11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11</vt:i4>
      </vt:variant>
    </vt:vector>
  </HeadingPairs>
  <TitlesOfParts>
    <vt:vector size="23" baseType="lpstr">
      <vt:lpstr>Arial</vt:lpstr>
      <vt:lpstr>Bahnschrift</vt:lpstr>
      <vt:lpstr>Bahnschrift Light</vt:lpstr>
      <vt:lpstr>Bahnschrift Light Condensed</vt:lpstr>
      <vt:lpstr>Bahnschrift Light SemiCondensed</vt:lpstr>
      <vt:lpstr>Bahnschrift SemiBold</vt:lpstr>
      <vt:lpstr>Bahnschrift SemiBold SemiConden</vt:lpstr>
      <vt:lpstr>Bahnschrift SemiCondensed</vt:lpstr>
      <vt:lpstr>Bahnschrift SemiLight</vt:lpstr>
      <vt:lpstr>Bahnschrift SemiLight SemiConde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EdgeRAG — Midterm Presentation</dc:title>
  <dc:subject>PptxGenJS Presentation</dc:subject>
  <dc:creator>Hüseyin Eren Doğan</dc:creator>
  <cp:lastModifiedBy>Hüseyin Eren Doğan</cp:lastModifiedBy>
  <cp:revision>3</cp:revision>
  <dcterms:created xsi:type="dcterms:W3CDTF">2026-04-08T23:49:13Z</dcterms:created>
  <dcterms:modified xsi:type="dcterms:W3CDTF">2026-04-09T04:47:30Z</dcterms:modified>
</cp:coreProperties>
</file>